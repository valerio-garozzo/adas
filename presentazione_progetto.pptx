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3"/>
  </p:notesMasterIdLst>
  <p:sldIdLst>
    <p:sldId id="257" r:id="rId2"/>
    <p:sldId id="266" r:id="rId3"/>
    <p:sldId id="268" r:id="rId4"/>
    <p:sldId id="265" r:id="rId5"/>
    <p:sldId id="259" r:id="rId6"/>
    <p:sldId id="269" r:id="rId7"/>
    <p:sldId id="260" r:id="rId8"/>
    <p:sldId id="271" r:id="rId9"/>
    <p:sldId id="262" r:id="rId10"/>
    <p:sldId id="261" r:id="rId11"/>
    <p:sldId id="263" r:id="rId12"/>
    <p:sldId id="264" r:id="rId13"/>
    <p:sldId id="272" r:id="rId14"/>
    <p:sldId id="273" r:id="rId15"/>
    <p:sldId id="274" r:id="rId16"/>
    <p:sldId id="275" r:id="rId17"/>
    <p:sldId id="276" r:id="rId18"/>
    <p:sldId id="282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2B2873-217E-E549-14C8-906E8506A1E5}" name="Valerio GAROZZO" initials="VG" userId="S::valerio.garozzo@studenti.unipr.it::a68fb430-6be8-40ae-ba0f-4c6b581a03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13"/>
    <p:restoredTop sz="95679"/>
  </p:normalViewPr>
  <p:slideViewPr>
    <p:cSldViewPr snapToGrid="0">
      <p:cViewPr>
        <p:scale>
          <a:sx n="99" d="100"/>
          <a:sy n="99" d="100"/>
        </p:scale>
        <p:origin x="102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Dataset Split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04D-D54F-9EA0-CB4D8A6971F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4D-D54F-9EA0-CB4D8A6971F5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4D-D54F-9EA0-CB4D8A6971F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Foglio1!$A$2:$A$4</c:f>
              <c:strCache>
                <c:ptCount val="3"/>
                <c:pt idx="0">
                  <c:v>Training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Foglio1!$B$2:$B$4</c:f>
              <c:numCache>
                <c:formatCode>0%</c:formatCode>
                <c:ptCount val="3"/>
                <c:pt idx="0">
                  <c:v>0.64</c:v>
                </c:pt>
                <c:pt idx="1">
                  <c:v>0.16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25-9542-9A89-DB0B91E0115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Dataset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823-E548-9872-7D4A1C8BC1C2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823-E548-9872-7D4A1C8BC1C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Foglio1!$A$2:$A$3</c:f>
              <c:strCache>
                <c:ptCount val="2"/>
                <c:pt idx="0">
                  <c:v>Training</c:v>
                </c:pt>
                <c:pt idx="1">
                  <c:v>Test</c:v>
                </c:pt>
              </c:strCache>
            </c:strRef>
          </c:cat>
          <c:val>
            <c:numRef>
              <c:f>Foglio1!$B$2:$B$3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DE-A147-812A-F66710D9A532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4T14:27:59.9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9:24.759"/>
    </inkml:context>
    <inkml:brush xml:id="br0">
      <inkml:brushProperty name="width" value="0.35" units="cm"/>
      <inkml:brushProperty name="height" value="0.35" units="cm"/>
      <inkml:brushProperty name="color" value="#E6F3FF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9:26.154"/>
    </inkml:context>
    <inkml:brush xml:id="br0">
      <inkml:brushProperty name="width" value="0.35" units="cm"/>
      <inkml:brushProperty name="height" value="0.35" units="cm"/>
      <inkml:brushProperty name="color" value="#E6F3FF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9:27.066"/>
    </inkml:context>
    <inkml:brush xml:id="br0">
      <inkml:brushProperty name="width" value="0.35" units="cm"/>
      <inkml:brushProperty name="height" value="0.35" units="cm"/>
      <inkml:brushProperty name="color" value="#E6F3FF"/>
    </inkml:brush>
  </inkml:definitions>
  <inkml:trace contextRef="#ctx0" brushRef="#br0">0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9:28.700"/>
    </inkml:context>
    <inkml:brush xml:id="br0">
      <inkml:brushProperty name="width" value="0.35" units="cm"/>
      <inkml:brushProperty name="height" value="0.35" units="cm"/>
      <inkml:brushProperty name="color" value="#E6F3FF"/>
    </inkml:brush>
  </inkml:definitions>
  <inkml:trace contextRef="#ctx0" brushRef="#br0">0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9:29.582"/>
    </inkml:context>
    <inkml:brush xml:id="br0">
      <inkml:brushProperty name="width" value="0.35" units="cm"/>
      <inkml:brushProperty name="height" value="0.35" units="cm"/>
      <inkml:brushProperty name="color" value="#E6F3FF"/>
    </inkml:brush>
  </inkml:definitions>
  <inkml:trace contextRef="#ctx0" brushRef="#br0">0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8T09:29:30.496"/>
    </inkml:context>
    <inkml:brush xml:id="br0">
      <inkml:brushProperty name="width" value="0.35" units="cm"/>
      <inkml:brushProperty name="height" value="0.35" units="cm"/>
      <inkml:brushProperty name="color" value="#E6F3FF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59778-51FC-ED4F-AE63-84026F1D6074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559A5-0F28-BB42-B6AB-01911551B3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4279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“Buongiorno a tutti, mi chiamo </a:t>
            </a:r>
            <a:r>
              <a:rPr lang="it-IT" i="1" dirty="0"/>
              <a:t>Valerio Garozzo</a:t>
            </a:r>
            <a:r>
              <a:rPr lang="it-IT" dirty="0"/>
              <a:t> e oggi vi presento il mio progetto: </a:t>
            </a:r>
            <a:r>
              <a:rPr lang="it-IT" i="1" dirty="0" err="1"/>
              <a:t>Neural</a:t>
            </a:r>
            <a:r>
              <a:rPr lang="it-IT" i="1" dirty="0"/>
              <a:t> Network for </a:t>
            </a:r>
            <a:r>
              <a:rPr lang="it-IT" i="1" dirty="0" err="1"/>
              <a:t>Cones</a:t>
            </a:r>
            <a:r>
              <a:rPr lang="it-IT" i="1" dirty="0"/>
              <a:t> </a:t>
            </a:r>
            <a:r>
              <a:rPr lang="it-IT" i="1" dirty="0" err="1"/>
              <a:t>Distance</a:t>
            </a:r>
            <a:r>
              <a:rPr lang="it-IT" i="1" dirty="0"/>
              <a:t> </a:t>
            </a:r>
            <a:r>
              <a:rPr lang="it-IT" i="1" dirty="0" err="1"/>
              <a:t>Estimation</a:t>
            </a:r>
            <a:r>
              <a:rPr lang="it-IT" i="1" dirty="0"/>
              <a:t> with Single-Camera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Questo lavoro nasce all’interno del Dipartimento di Ingegneria Informatica e affronta una sfida molto attuale nel campo della guida autonoma e del motorsport.”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4203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2D05-EE4A-6740-0EA4-8BAF12A6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259F1A1-D9A4-405C-8263-B343DA205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33549FA-911B-BE9A-A2FD-0AC320995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“In questa presentazione vi guiderò attraverso: gli obiettivi, le sfide, la soluzione proposta, il dataset utilizzato, l’architettura della rete neurale, i risultati ottenuti e infine le conclusioni con gli sviluppi futuri.”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FFFEFA-157E-9BB8-F27D-D30CAE751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1917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888BB-86BB-325E-78D9-6FA4246C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CA68DF1-E8FA-7355-5683-24A069894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CA21F21-7D65-8529-EBF2-898647E0E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“Il contesto applicativo è quello della guida autonoma e in particolare della Formula </a:t>
            </a:r>
            <a:r>
              <a:rPr lang="it-IT" dirty="0" err="1"/>
              <a:t>Student</a:t>
            </a:r>
            <a:r>
              <a:rPr lang="it-IT" dirty="0"/>
              <a:t>.</a:t>
            </a:r>
            <a:br>
              <a:rPr lang="it-IT" dirty="0"/>
            </a:br>
            <a:r>
              <a:rPr lang="it-IT" dirty="0"/>
              <a:t>Stimare la distanza dei coni è fondamentale per permettere al veicolo di ricostruire la pista e prendere decisioni di guida.</a:t>
            </a:r>
            <a:br>
              <a:rPr lang="it-IT" dirty="0"/>
            </a:br>
            <a:r>
              <a:rPr lang="it-IT" dirty="0"/>
              <a:t>Tradizionalmente si usano sensori costosi e complessi, come </a:t>
            </a:r>
            <a:r>
              <a:rPr lang="it-IT" dirty="0" err="1"/>
              <a:t>LiDAR</a:t>
            </a:r>
            <a:r>
              <a:rPr lang="it-IT" dirty="0"/>
              <a:t> o stereo-camere. L’idea qui è ridurre i costi affidandosi a una semplice monocamera.”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5715E5-3B97-4B16-4E4D-10223CAFC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242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902B1-BE3F-13AD-6BB5-2235DD813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87175E3-D82C-8FCF-8062-DD68FA0A8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C2F0EBD-F5D8-16CA-8409-24BA23C73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“L’obiettivo è chiaro: stimare la distanza dei coni con una sola monocamera.</a:t>
            </a:r>
            <a:br>
              <a:rPr lang="it-IT" dirty="0"/>
            </a:br>
            <a:r>
              <a:rPr lang="it-IT" dirty="0"/>
              <a:t>Questo permetterebbe di eliminare o ridurre la dipendenza da </a:t>
            </a:r>
            <a:r>
              <a:rPr lang="it-IT" dirty="0" err="1"/>
              <a:t>LiDAR</a:t>
            </a:r>
            <a:r>
              <a:rPr lang="it-IT" dirty="0"/>
              <a:t>, rendendo i veicoli più leggeri ed economici.”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CB6CB40-3B51-9B5E-9048-9F98337AE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8568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6725C-ECBF-5594-C2D5-5746A3FE4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1B1823D-3087-D4A5-2C21-FF02788A4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3B25ED1-7F6A-5285-CB47-123F2989A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“La sfida principale nasce dal fatto che con una sola camera perdiamo la profondità.</a:t>
            </a:r>
            <a:br>
              <a:rPr lang="it-IT" dirty="0"/>
            </a:br>
            <a:r>
              <a:rPr lang="it-IT" dirty="0"/>
              <a:t>Un </a:t>
            </a:r>
            <a:r>
              <a:rPr lang="it-IT" dirty="0" err="1"/>
              <a:t>LiDAR</a:t>
            </a:r>
            <a:r>
              <a:rPr lang="it-IT" dirty="0"/>
              <a:t> o una stereo-camera forniscono direttamente informazioni 3D, mentre una monocamera no.</a:t>
            </a:r>
            <a:br>
              <a:rPr lang="it-IT" dirty="0"/>
            </a:br>
            <a:r>
              <a:rPr lang="it-IT" dirty="0"/>
              <a:t>Il progetto quindi si basa sull’uso di reti neurali per ricostruire questa informazione persa.”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AFB670E-EC12-6E05-527D-50335DABE0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7522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EC68-0479-754F-834F-2202B43F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0F35900-C4F7-46A0-6693-2D168E0C3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7B5130B-927E-F1CA-ABB0-468122330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“Rispetto alle soluzioni alternative:</a:t>
            </a:r>
          </a:p>
          <a:p>
            <a:r>
              <a:rPr lang="it-IT" dirty="0"/>
              <a:t>Il </a:t>
            </a:r>
            <a:r>
              <a:rPr lang="it-IT" dirty="0" err="1"/>
              <a:t>LiDAR</a:t>
            </a:r>
            <a:r>
              <a:rPr lang="it-IT" dirty="0"/>
              <a:t> è costoso e pesante.</a:t>
            </a:r>
          </a:p>
          <a:p>
            <a:r>
              <a:rPr lang="it-IT" dirty="0"/>
              <a:t>La stereo-camera è più complessa e meno robusta.</a:t>
            </a:r>
          </a:p>
          <a:p>
            <a:r>
              <a:rPr lang="it-IT" dirty="0"/>
              <a:t>La monocamera, invece, è economica, leggera e può essere resa ‘intelligente’ grazie al deep learning.</a:t>
            </a:r>
            <a:br>
              <a:rPr lang="it-IT" dirty="0"/>
            </a:br>
            <a:r>
              <a:rPr lang="it-IT" dirty="0"/>
              <a:t>Ed è proprio su questa direzione che ci muoviamo.”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9D0C24-15CC-9730-3C33-747757DF5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689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3121-4780-5B15-3BD7-8DBF25675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A10766C-3697-26CC-0F5F-481DC74C3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984EF54-24C7-72B8-6FAB-99426F7CB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“La soluzione proposta è usare una rete neurale per stimare la distanza dei coni a partire dalle immagini della monocamera.</a:t>
            </a:r>
            <a:br>
              <a:rPr lang="it-IT" dirty="0"/>
            </a:br>
            <a:r>
              <a:rPr lang="it-IT" dirty="0"/>
              <a:t>Il flusso è: input immagine → </a:t>
            </a:r>
            <a:r>
              <a:rPr lang="it-IT" dirty="0" err="1"/>
              <a:t>preprocessing</a:t>
            </a:r>
            <a:r>
              <a:rPr lang="it-IT" dirty="0"/>
              <a:t> → rete neurale → output distanza.”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AC8809-5A99-123D-1465-BA119D1D2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1559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4B9AC-E943-9BB5-CF84-5C3D9352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39B9C3-D782-79C1-43EF-BFB74B0D3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596F6B1-595D-9A62-9F2C-1FBBFDDC2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“Qui vediamo l’architettura generale:</a:t>
            </a:r>
          </a:p>
          <a:p>
            <a:r>
              <a:rPr lang="it-IT" dirty="0"/>
              <a:t>acquisizione dei frame dalla monocamera,</a:t>
            </a:r>
          </a:p>
          <a:p>
            <a:r>
              <a:rPr lang="it-IT" dirty="0"/>
              <a:t>annotazione dei coni con </a:t>
            </a:r>
            <a:r>
              <a:rPr lang="it-IT" dirty="0" err="1"/>
              <a:t>bounding</a:t>
            </a:r>
            <a:r>
              <a:rPr lang="it-IT" dirty="0"/>
              <a:t> box,</a:t>
            </a:r>
          </a:p>
          <a:p>
            <a:r>
              <a:rPr lang="it-IT" dirty="0" err="1"/>
              <a:t>preprocessing</a:t>
            </a:r>
            <a:r>
              <a:rPr lang="it-IT" dirty="0"/>
              <a:t>,</a:t>
            </a:r>
          </a:p>
          <a:p>
            <a:r>
              <a:rPr lang="it-IT" dirty="0"/>
              <a:t>training della rete neurale,</a:t>
            </a:r>
          </a:p>
          <a:p>
            <a:r>
              <a:rPr lang="it-IT" dirty="0"/>
              <a:t>e infine l’output della distanza stimata.</a:t>
            </a:r>
            <a:br>
              <a:rPr lang="it-IT" dirty="0"/>
            </a:br>
            <a:r>
              <a:rPr lang="it-IT" dirty="0"/>
              <a:t>Tutto questo costituisce la pipeline del sistema.”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8238B76-3A57-19CA-0345-8CEDC211E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7036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6312-C68A-78FE-3EC0-FD9C31A7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8BE01F2-BD81-222F-9CBB-8293DF613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03A57BF-2C8F-108D-4C53-A29A97BE3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“I frame sono acquisiti da una monocamera montata in posizione fissa sul veicolo.</a:t>
            </a:r>
            <a:br>
              <a:rPr lang="it-IT" dirty="0"/>
            </a:br>
            <a:r>
              <a:rPr lang="it-IT" dirty="0"/>
              <a:t>In questo modo otteniamo una visione coerente e ripetibile dei coni sul tracciato.”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212E3A-89FC-2EF8-DE67-6D61C764D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762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65306-CFBD-CF9B-3E86-B2E7606D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F33B2EB-D169-54C6-9F52-2B6CAB795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BD9D29-7C51-B80D-07E7-D9EABB4DD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69F70B-6861-09F4-F78F-6F1CFFB73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7641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26F5-9185-C288-5949-A888497B3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5DD14C-B86B-DA24-6CC0-A4D63307C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0CA8BAA-9EB8-5662-01D6-2BB99B12C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A8BF43-B921-0D7D-4654-FA0EBC9BC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7507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26F85-C6A5-D9C8-FB3B-FB0C1AF1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8B63D0-51D2-621B-ED4A-4C2EEE2D9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DFCEE9-99AA-1A10-EB43-74DCD8A8F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A4C947-970E-F697-C1C0-B07662EF5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6909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F782A-E031-0895-CAFE-7B7CF969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C562F66-B5EE-0506-BE2F-3F7FA51BB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0E1EBC5-6608-39CD-7AE4-1DD2E488E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BA49A2-36CD-D78B-01DA-D44776B35B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3382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19FD-CEDD-5C62-3EEC-7B480F53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98D283D-80EB-6176-C419-4B7FED0AC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5978649-B147-8C43-3F4C-B895F4220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96ED82-AFF4-5C5D-8E42-3EF09BAD3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7986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2FAD9-BACF-9FB3-99F7-8342C805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5206CD6-2290-9BB1-D1BE-0118F5141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895F080-42A4-5DA9-95D1-D4792CC8A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66D556A-5B77-7BD7-6F97-41111B201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275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5645-78B2-8B74-7BC1-F59140656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D61201D-D42B-BEA9-6BC9-CD3F17C5C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12B972A-B8F1-AC34-67A8-2BA2D1465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89203B1-40D2-0C61-8B22-A43962AAC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2119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43B2-E657-F0CD-8D59-917E6C26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E14D340-6806-8387-8898-B6220DD09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F8D8A92-AE14-CB88-AC79-E34B76148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6B1A25-7633-EA38-CA13-A1F53813A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046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D5B73-E430-41D5-F672-08AD8D28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2894F30-0B82-F816-B616-302559D9A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DFBB79-AC07-9FA9-4C1D-A87F4FA7D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8ADA32D-D3C7-E58C-5CC5-4B45C038F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34440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CC1AB-D552-9BEA-1B31-75C551D3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9EF8C93-BFA5-CE9C-EFEF-544304263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5826E93-A79D-DBF8-D8A0-CC5E10198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C6397DE-CD9C-F015-C5D3-6F6C276E7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4703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D2CE-5700-7225-37F8-4AECA64D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E0A9F54-2A0D-1D5D-DFAF-494D8BFC0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B560DD8-11D1-9E97-46F0-EC750DE4F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3F76A3-5D6F-9730-E145-1A74FEC9B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713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1FC7A-CE17-BC1F-4B3C-75333D11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B6DB135-2FB0-7BB9-E5DE-4ABFDCCCC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93D14D4-FF21-F9C5-4743-6A1E3AEA3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3B75A5-1E06-C303-87EA-8D4F711C4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559A5-0F28-BB42-B6AB-01911551B3B9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4905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29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783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594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081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4300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054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057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6593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327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7958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439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A365B-F652-1049-9E3E-7A6A6B117577}" type="datetimeFigureOut">
              <a:rPr lang="it-IT" smtClean="0"/>
              <a:t>08/09/25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4B810-E790-1347-9EC3-C64669748C4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085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19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customXml" Target="../ink/ink7.xml"/><Relationship Id="rId5" Type="http://schemas.openxmlformats.org/officeDocument/2006/relationships/customXml" Target="../ink/ink2.xml"/><Relationship Id="rId10" Type="http://schemas.openxmlformats.org/officeDocument/2006/relationships/customXml" Target="../ink/ink6.xml"/><Relationship Id="rId4" Type="http://schemas.openxmlformats.org/officeDocument/2006/relationships/image" Target="../media/image29.png"/><Relationship Id="rId9" Type="http://schemas.openxmlformats.org/officeDocument/2006/relationships/customXml" Target="../ink/ink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043602" y="2971799"/>
            <a:ext cx="10104796" cy="1862953"/>
          </a:xfrm>
        </p:spPr>
        <p:txBody>
          <a:bodyPr>
            <a:noAutofit/>
          </a:bodyPr>
          <a:lstStyle/>
          <a:p>
            <a:r>
              <a:rPr lang="it-IT" sz="4800" dirty="0" err="1">
                <a:latin typeface=""/>
              </a:rPr>
              <a:t>Neural</a:t>
            </a:r>
            <a:r>
              <a:rPr lang="it-IT" sz="4800" dirty="0">
                <a:latin typeface=""/>
              </a:rPr>
              <a:t> network for </a:t>
            </a:r>
            <a:r>
              <a:rPr lang="it-IT" sz="4800" dirty="0" err="1">
                <a:latin typeface=""/>
              </a:rPr>
              <a:t>cones</a:t>
            </a:r>
            <a:r>
              <a:rPr lang="it-IT" sz="4800" dirty="0">
                <a:latin typeface=""/>
              </a:rPr>
              <a:t> </a:t>
            </a:r>
            <a:r>
              <a:rPr lang="it-IT" sz="4800" dirty="0" err="1">
                <a:latin typeface=""/>
              </a:rPr>
              <a:t>distance</a:t>
            </a:r>
            <a:r>
              <a:rPr lang="it-IT" sz="4800" dirty="0">
                <a:latin typeface=""/>
              </a:rPr>
              <a:t> </a:t>
            </a:r>
            <a:r>
              <a:rPr lang="it-IT" sz="4800" dirty="0" err="1">
                <a:latin typeface=""/>
              </a:rPr>
              <a:t>estimation</a:t>
            </a:r>
            <a:r>
              <a:rPr lang="it-IT" sz="4800" dirty="0">
                <a:latin typeface=""/>
              </a:rPr>
              <a:t> with single-camera</a:t>
            </a:r>
            <a:endParaRPr lang="it-IT" sz="4800" dirty="0"/>
          </a:p>
        </p:txBody>
      </p:sp>
      <p:sp>
        <p:nvSpPr>
          <p:cNvPr id="16" name="Ovale 15"/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/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/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Ovale 20"/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/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/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Ovale 34"/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/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D345D1C1-EE54-2D1B-84AC-8653A9620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D023D1C1-8CC1-C1EF-CAB8-D63E4E04AE23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E49E044-1E49-E36C-F25A-B8067EB07B58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E829CC66-47B8-9394-12F9-46C595E84AE9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B25DFAA-6C4C-69C7-79A3-A4481F8BD1C7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F65013B9-DAD5-0B74-6679-E04E2CFDF98A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869A64EA-1168-68DB-E44D-A09F577DD8A5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24D6677F-4A73-2889-19A4-1C1531649686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31425B9D-23DA-E5EC-7F38-E9A1AD3C17B8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B3CC763F-8DB0-F4DF-FBCE-383AEE99F8D7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15055B59-5170-0EF1-BF44-CF72923BE785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E36F38D1-831D-9F1D-BC0E-C6B9331D7CAD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79ECC73A-9ECF-9314-1B8B-F1DE1549F04A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3157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431F5-515A-D3C0-D91B-4F5DFF8E1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08F5A51-BB5F-5381-C0FA-F356057F6EB6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28278F20-39DC-CD96-35AE-7F4D624D6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133FE96-829C-9185-EA7D-01C4DFCB7156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8" name="Sottotitolo 5">
            <a:extLst>
              <a:ext uri="{FF2B5EF4-FFF2-40B4-BE49-F238E27FC236}">
                <a16:creationId xmlns:a16="http://schemas.microsoft.com/office/drawing/2014/main" id="{23FA707D-A6B1-D461-6725-0E61C6493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9371" y="2189731"/>
            <a:ext cx="2425593" cy="937857"/>
          </a:xfrm>
        </p:spPr>
        <p:txBody>
          <a:bodyPr>
            <a:normAutofit/>
          </a:bodyPr>
          <a:lstStyle/>
          <a:p>
            <a:r>
              <a:rPr lang="it-IT" sz="2800" b="1" dirty="0" err="1"/>
              <a:t>Contents</a:t>
            </a:r>
            <a:endParaRPr lang="it-IT" sz="2800" b="1" dirty="0"/>
          </a:p>
        </p:txBody>
      </p:sp>
      <p:sp>
        <p:nvSpPr>
          <p:cNvPr id="9" name="Sottotitolo 5">
            <a:extLst>
              <a:ext uri="{FF2B5EF4-FFF2-40B4-BE49-F238E27FC236}">
                <a16:creationId xmlns:a16="http://schemas.microsoft.com/office/drawing/2014/main" id="{8BE68749-4629-B7CF-527B-32FCF1C2A5ED}"/>
              </a:ext>
            </a:extLst>
          </p:cNvPr>
          <p:cNvSpPr txBox="1">
            <a:spLocks/>
          </p:cNvSpPr>
          <p:nvPr/>
        </p:nvSpPr>
        <p:spPr>
          <a:xfrm>
            <a:off x="5144280" y="1225442"/>
            <a:ext cx="1903440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sp>
        <p:nvSpPr>
          <p:cNvPr id="15" name="Sottotitolo 5">
            <a:extLst>
              <a:ext uri="{FF2B5EF4-FFF2-40B4-BE49-F238E27FC236}">
                <a16:creationId xmlns:a16="http://schemas.microsoft.com/office/drawing/2014/main" id="{5D4270AC-8EE5-6938-7AD9-4EAF7637476B}"/>
              </a:ext>
            </a:extLst>
          </p:cNvPr>
          <p:cNvSpPr txBox="1">
            <a:spLocks/>
          </p:cNvSpPr>
          <p:nvPr/>
        </p:nvSpPr>
        <p:spPr>
          <a:xfrm>
            <a:off x="6096000" y="2004085"/>
            <a:ext cx="901079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Goals</a:t>
            </a:r>
          </a:p>
        </p:txBody>
      </p:sp>
      <p:sp>
        <p:nvSpPr>
          <p:cNvPr id="18" name="Sottotitolo 5">
            <a:extLst>
              <a:ext uri="{FF2B5EF4-FFF2-40B4-BE49-F238E27FC236}">
                <a16:creationId xmlns:a16="http://schemas.microsoft.com/office/drawing/2014/main" id="{C5358EE2-DA22-7532-32B3-951A232DA85C}"/>
              </a:ext>
            </a:extLst>
          </p:cNvPr>
          <p:cNvSpPr txBox="1">
            <a:spLocks/>
          </p:cNvSpPr>
          <p:nvPr/>
        </p:nvSpPr>
        <p:spPr>
          <a:xfrm>
            <a:off x="6084746" y="2498136"/>
            <a:ext cx="1592034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Challenges</a:t>
            </a:r>
          </a:p>
        </p:txBody>
      </p:sp>
      <p:sp>
        <p:nvSpPr>
          <p:cNvPr id="22" name="Sottotitolo 5">
            <a:extLst>
              <a:ext uri="{FF2B5EF4-FFF2-40B4-BE49-F238E27FC236}">
                <a16:creationId xmlns:a16="http://schemas.microsoft.com/office/drawing/2014/main" id="{F46D4709-8D8A-7809-C93F-61259809FF74}"/>
              </a:ext>
            </a:extLst>
          </p:cNvPr>
          <p:cNvSpPr txBox="1">
            <a:spLocks/>
          </p:cNvSpPr>
          <p:nvPr/>
        </p:nvSpPr>
        <p:spPr>
          <a:xfrm>
            <a:off x="6117040" y="2986393"/>
            <a:ext cx="2425593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Proposed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  <p:sp>
        <p:nvSpPr>
          <p:cNvPr id="23" name="Sottotitolo 5">
            <a:extLst>
              <a:ext uri="{FF2B5EF4-FFF2-40B4-BE49-F238E27FC236}">
                <a16:creationId xmlns:a16="http://schemas.microsoft.com/office/drawing/2014/main" id="{374ABCC7-931B-9487-D4CD-452AFB00681B}"/>
              </a:ext>
            </a:extLst>
          </p:cNvPr>
          <p:cNvSpPr txBox="1">
            <a:spLocks/>
          </p:cNvSpPr>
          <p:nvPr/>
        </p:nvSpPr>
        <p:spPr>
          <a:xfrm>
            <a:off x="6096000" y="3525451"/>
            <a:ext cx="1198446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Dataset</a:t>
            </a:r>
          </a:p>
        </p:txBody>
      </p:sp>
      <p:sp>
        <p:nvSpPr>
          <p:cNvPr id="24" name="Sottotitolo 5">
            <a:extLst>
              <a:ext uri="{FF2B5EF4-FFF2-40B4-BE49-F238E27FC236}">
                <a16:creationId xmlns:a16="http://schemas.microsoft.com/office/drawing/2014/main" id="{67BA25A6-09E2-771A-8A2A-D1567F5C96B3}"/>
              </a:ext>
            </a:extLst>
          </p:cNvPr>
          <p:cNvSpPr txBox="1">
            <a:spLocks/>
          </p:cNvSpPr>
          <p:nvPr/>
        </p:nvSpPr>
        <p:spPr>
          <a:xfrm>
            <a:off x="6084746" y="4101623"/>
            <a:ext cx="3680905" cy="517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Neural</a:t>
            </a:r>
            <a:r>
              <a:rPr lang="it-IT" dirty="0"/>
              <a:t> network </a:t>
            </a:r>
            <a:r>
              <a:rPr lang="it-IT" dirty="0" err="1"/>
              <a:t>architecture</a:t>
            </a:r>
            <a:endParaRPr lang="it-IT" dirty="0"/>
          </a:p>
        </p:txBody>
      </p:sp>
      <p:sp>
        <p:nvSpPr>
          <p:cNvPr id="25" name="Sottotitolo 5">
            <a:extLst>
              <a:ext uri="{FF2B5EF4-FFF2-40B4-BE49-F238E27FC236}">
                <a16:creationId xmlns:a16="http://schemas.microsoft.com/office/drawing/2014/main" id="{1EF3C62E-43EA-43A3-B2B4-C54967CF9590}"/>
              </a:ext>
            </a:extLst>
          </p:cNvPr>
          <p:cNvSpPr txBox="1">
            <a:spLocks/>
          </p:cNvSpPr>
          <p:nvPr/>
        </p:nvSpPr>
        <p:spPr>
          <a:xfrm>
            <a:off x="6117040" y="4619254"/>
            <a:ext cx="1087211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26" name="Sottotitolo 5">
            <a:extLst>
              <a:ext uri="{FF2B5EF4-FFF2-40B4-BE49-F238E27FC236}">
                <a16:creationId xmlns:a16="http://schemas.microsoft.com/office/drawing/2014/main" id="{97EA5EB0-2D12-032B-C6EB-51DBA44DF993}"/>
              </a:ext>
            </a:extLst>
          </p:cNvPr>
          <p:cNvSpPr txBox="1">
            <a:spLocks/>
          </p:cNvSpPr>
          <p:nvPr/>
        </p:nvSpPr>
        <p:spPr>
          <a:xfrm>
            <a:off x="6030388" y="5114863"/>
            <a:ext cx="4931480" cy="517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 </a:t>
            </a:r>
            <a:r>
              <a:rPr lang="it-IT" dirty="0" err="1"/>
              <a:t>Conclusions</a:t>
            </a:r>
            <a:r>
              <a:rPr lang="it-IT" dirty="0"/>
              <a:t> and future </a:t>
            </a:r>
            <a:r>
              <a:rPr lang="it-IT" dirty="0" err="1"/>
              <a:t>developments</a:t>
            </a:r>
            <a:endParaRPr lang="it-IT" dirty="0"/>
          </a:p>
        </p:txBody>
      </p:sp>
      <p:cxnSp>
        <p:nvCxnSpPr>
          <p:cNvPr id="29" name="Connettore 1 28">
            <a:extLst>
              <a:ext uri="{FF2B5EF4-FFF2-40B4-BE49-F238E27FC236}">
                <a16:creationId xmlns:a16="http://schemas.microsoft.com/office/drawing/2014/main" id="{FB66306D-986D-6700-929A-EC9E12217025}"/>
              </a:ext>
            </a:extLst>
          </p:cNvPr>
          <p:cNvCxnSpPr>
            <a:cxnSpLocks/>
          </p:cNvCxnSpPr>
          <p:nvPr/>
        </p:nvCxnSpPr>
        <p:spPr>
          <a:xfrm>
            <a:off x="6117040" y="2380534"/>
            <a:ext cx="527577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ttore 1 32">
            <a:extLst>
              <a:ext uri="{FF2B5EF4-FFF2-40B4-BE49-F238E27FC236}">
                <a16:creationId xmlns:a16="http://schemas.microsoft.com/office/drawing/2014/main" id="{34B3AA56-4C2A-EFC5-5100-F87FEAAB6031}"/>
              </a:ext>
            </a:extLst>
          </p:cNvPr>
          <p:cNvCxnSpPr>
            <a:cxnSpLocks/>
          </p:cNvCxnSpPr>
          <p:nvPr/>
        </p:nvCxnSpPr>
        <p:spPr>
          <a:xfrm>
            <a:off x="6117041" y="2902804"/>
            <a:ext cx="527577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ttore 1 33">
            <a:extLst>
              <a:ext uri="{FF2B5EF4-FFF2-40B4-BE49-F238E27FC236}">
                <a16:creationId xmlns:a16="http://schemas.microsoft.com/office/drawing/2014/main" id="{8F491EC7-AC8E-A0F7-84C7-14AB9AC88AD1}"/>
              </a:ext>
            </a:extLst>
          </p:cNvPr>
          <p:cNvCxnSpPr>
            <a:cxnSpLocks/>
          </p:cNvCxnSpPr>
          <p:nvPr/>
        </p:nvCxnSpPr>
        <p:spPr>
          <a:xfrm>
            <a:off x="6117042" y="3438293"/>
            <a:ext cx="527577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ttore 1 35">
            <a:extLst>
              <a:ext uri="{FF2B5EF4-FFF2-40B4-BE49-F238E27FC236}">
                <a16:creationId xmlns:a16="http://schemas.microsoft.com/office/drawing/2014/main" id="{F10E9B2A-194B-B3DA-AAC0-05C862A2D3E1}"/>
              </a:ext>
            </a:extLst>
          </p:cNvPr>
          <p:cNvCxnSpPr>
            <a:cxnSpLocks/>
          </p:cNvCxnSpPr>
          <p:nvPr/>
        </p:nvCxnSpPr>
        <p:spPr>
          <a:xfrm>
            <a:off x="6117042" y="3981891"/>
            <a:ext cx="527577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ttore 1 36">
            <a:extLst>
              <a:ext uri="{FF2B5EF4-FFF2-40B4-BE49-F238E27FC236}">
                <a16:creationId xmlns:a16="http://schemas.microsoft.com/office/drawing/2014/main" id="{C15EFA14-17E9-725B-84D7-FA3A27A34CD5}"/>
              </a:ext>
            </a:extLst>
          </p:cNvPr>
          <p:cNvCxnSpPr>
            <a:cxnSpLocks/>
          </p:cNvCxnSpPr>
          <p:nvPr/>
        </p:nvCxnSpPr>
        <p:spPr>
          <a:xfrm>
            <a:off x="6117043" y="4528397"/>
            <a:ext cx="527577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1 37">
            <a:extLst>
              <a:ext uri="{FF2B5EF4-FFF2-40B4-BE49-F238E27FC236}">
                <a16:creationId xmlns:a16="http://schemas.microsoft.com/office/drawing/2014/main" id="{BC9D23F7-E95A-3EEE-1E7B-C5011C724615}"/>
              </a:ext>
            </a:extLst>
          </p:cNvPr>
          <p:cNvCxnSpPr>
            <a:cxnSpLocks/>
          </p:cNvCxnSpPr>
          <p:nvPr/>
        </p:nvCxnSpPr>
        <p:spPr>
          <a:xfrm>
            <a:off x="6117044" y="5046900"/>
            <a:ext cx="527577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ttore 1 38">
            <a:extLst>
              <a:ext uri="{FF2B5EF4-FFF2-40B4-BE49-F238E27FC236}">
                <a16:creationId xmlns:a16="http://schemas.microsoft.com/office/drawing/2014/main" id="{3B95667D-0792-EE76-A16F-9E97BB8CE604}"/>
              </a:ext>
            </a:extLst>
          </p:cNvPr>
          <p:cNvCxnSpPr>
            <a:cxnSpLocks/>
          </p:cNvCxnSpPr>
          <p:nvPr/>
        </p:nvCxnSpPr>
        <p:spPr>
          <a:xfrm>
            <a:off x="6117044" y="5530994"/>
            <a:ext cx="527577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Sottotitolo 5">
            <a:extLst>
              <a:ext uri="{FF2B5EF4-FFF2-40B4-BE49-F238E27FC236}">
                <a16:creationId xmlns:a16="http://schemas.microsoft.com/office/drawing/2014/main" id="{BA4C3709-0F99-9BC9-E453-E94C0EABB082}"/>
              </a:ext>
            </a:extLst>
          </p:cNvPr>
          <p:cNvSpPr txBox="1">
            <a:spLocks/>
          </p:cNvSpPr>
          <p:nvPr/>
        </p:nvSpPr>
        <p:spPr>
          <a:xfrm>
            <a:off x="10990213" y="1930884"/>
            <a:ext cx="524909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0060AB"/>
                </a:solidFill>
              </a:rPr>
              <a:t>01</a:t>
            </a:r>
          </a:p>
        </p:txBody>
      </p:sp>
      <p:sp>
        <p:nvSpPr>
          <p:cNvPr id="45" name="Sottotitolo 5">
            <a:extLst>
              <a:ext uri="{FF2B5EF4-FFF2-40B4-BE49-F238E27FC236}">
                <a16:creationId xmlns:a16="http://schemas.microsoft.com/office/drawing/2014/main" id="{D6525537-E346-3925-DC50-7CDB216C50BA}"/>
              </a:ext>
            </a:extLst>
          </p:cNvPr>
          <p:cNvSpPr txBox="1">
            <a:spLocks/>
          </p:cNvSpPr>
          <p:nvPr/>
        </p:nvSpPr>
        <p:spPr>
          <a:xfrm>
            <a:off x="10990213" y="2422148"/>
            <a:ext cx="524909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0060AB"/>
                </a:solidFill>
              </a:rPr>
              <a:t>02</a:t>
            </a:r>
          </a:p>
        </p:txBody>
      </p:sp>
      <p:sp>
        <p:nvSpPr>
          <p:cNvPr id="46" name="Sottotitolo 5">
            <a:extLst>
              <a:ext uri="{FF2B5EF4-FFF2-40B4-BE49-F238E27FC236}">
                <a16:creationId xmlns:a16="http://schemas.microsoft.com/office/drawing/2014/main" id="{6A949C65-664D-BE92-0A8D-D0311A371625}"/>
              </a:ext>
            </a:extLst>
          </p:cNvPr>
          <p:cNvSpPr txBox="1">
            <a:spLocks/>
          </p:cNvSpPr>
          <p:nvPr/>
        </p:nvSpPr>
        <p:spPr>
          <a:xfrm>
            <a:off x="10990212" y="2968269"/>
            <a:ext cx="524909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0060AB"/>
                </a:solidFill>
              </a:rPr>
              <a:t>03</a:t>
            </a:r>
          </a:p>
        </p:txBody>
      </p:sp>
      <p:sp>
        <p:nvSpPr>
          <p:cNvPr id="47" name="Sottotitolo 5">
            <a:extLst>
              <a:ext uri="{FF2B5EF4-FFF2-40B4-BE49-F238E27FC236}">
                <a16:creationId xmlns:a16="http://schemas.microsoft.com/office/drawing/2014/main" id="{98B39CCA-48DA-BCCB-8910-2888054C98C0}"/>
              </a:ext>
            </a:extLst>
          </p:cNvPr>
          <p:cNvSpPr txBox="1">
            <a:spLocks/>
          </p:cNvSpPr>
          <p:nvPr/>
        </p:nvSpPr>
        <p:spPr>
          <a:xfrm>
            <a:off x="10984475" y="3514774"/>
            <a:ext cx="524909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0060AB"/>
                </a:solidFill>
              </a:rPr>
              <a:t>04</a:t>
            </a:r>
          </a:p>
        </p:txBody>
      </p:sp>
      <p:sp>
        <p:nvSpPr>
          <p:cNvPr id="48" name="Sottotitolo 5">
            <a:extLst>
              <a:ext uri="{FF2B5EF4-FFF2-40B4-BE49-F238E27FC236}">
                <a16:creationId xmlns:a16="http://schemas.microsoft.com/office/drawing/2014/main" id="{A53A1F65-AA53-ED0A-7126-67E320701BA2}"/>
              </a:ext>
            </a:extLst>
          </p:cNvPr>
          <p:cNvSpPr txBox="1">
            <a:spLocks/>
          </p:cNvSpPr>
          <p:nvPr/>
        </p:nvSpPr>
        <p:spPr>
          <a:xfrm>
            <a:off x="10984474" y="4089764"/>
            <a:ext cx="524909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0060AB"/>
                </a:solidFill>
              </a:rPr>
              <a:t>05</a:t>
            </a:r>
          </a:p>
        </p:txBody>
      </p:sp>
      <p:sp>
        <p:nvSpPr>
          <p:cNvPr id="53" name="Sottotitolo 5">
            <a:extLst>
              <a:ext uri="{FF2B5EF4-FFF2-40B4-BE49-F238E27FC236}">
                <a16:creationId xmlns:a16="http://schemas.microsoft.com/office/drawing/2014/main" id="{2F94E246-5881-CC9E-F29A-0CA034B0E1CA}"/>
              </a:ext>
            </a:extLst>
          </p:cNvPr>
          <p:cNvSpPr txBox="1">
            <a:spLocks/>
          </p:cNvSpPr>
          <p:nvPr/>
        </p:nvSpPr>
        <p:spPr>
          <a:xfrm>
            <a:off x="10984473" y="4616892"/>
            <a:ext cx="524909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0060AB"/>
                </a:solidFill>
              </a:rPr>
              <a:t>06</a:t>
            </a:r>
          </a:p>
        </p:txBody>
      </p:sp>
      <p:sp>
        <p:nvSpPr>
          <p:cNvPr id="54" name="Sottotitolo 5">
            <a:extLst>
              <a:ext uri="{FF2B5EF4-FFF2-40B4-BE49-F238E27FC236}">
                <a16:creationId xmlns:a16="http://schemas.microsoft.com/office/drawing/2014/main" id="{3AB0B4D9-6556-205D-270D-9E41102B7279}"/>
              </a:ext>
            </a:extLst>
          </p:cNvPr>
          <p:cNvSpPr txBox="1">
            <a:spLocks/>
          </p:cNvSpPr>
          <p:nvPr/>
        </p:nvSpPr>
        <p:spPr>
          <a:xfrm>
            <a:off x="10993202" y="5123074"/>
            <a:ext cx="524909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>
                <a:solidFill>
                  <a:srgbClr val="0060AB"/>
                </a:solidFill>
              </a:rPr>
              <a:t>07</a:t>
            </a:r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19C23959-6A2D-B359-3EBE-CE6E7EBA0D52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Ovale 58">
            <a:extLst>
              <a:ext uri="{FF2B5EF4-FFF2-40B4-BE49-F238E27FC236}">
                <a16:creationId xmlns:a16="http://schemas.microsoft.com/office/drawing/2014/main" id="{15A796FD-7EB8-01A0-5985-6A806E558145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DF73CB7A-F80C-4E55-60BD-D85C16F489CF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FF0D0752-4DB7-2073-F0F4-A5E648CA0A58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Ovale 61">
            <a:extLst>
              <a:ext uri="{FF2B5EF4-FFF2-40B4-BE49-F238E27FC236}">
                <a16:creationId xmlns:a16="http://schemas.microsoft.com/office/drawing/2014/main" id="{68BD0674-BB50-4D2B-1DC0-529B32C466FA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Ovale 62">
            <a:extLst>
              <a:ext uri="{FF2B5EF4-FFF2-40B4-BE49-F238E27FC236}">
                <a16:creationId xmlns:a16="http://schemas.microsoft.com/office/drawing/2014/main" id="{F7451520-8C2C-E029-9519-4A1EE93B78AA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22112A39-1F0A-F1E1-2C18-9CCD8A633C6C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5" name="Connettore 1 64">
            <a:extLst>
              <a:ext uri="{FF2B5EF4-FFF2-40B4-BE49-F238E27FC236}">
                <a16:creationId xmlns:a16="http://schemas.microsoft.com/office/drawing/2014/main" id="{341187C5-DD41-C9F0-737E-B6F745A2A475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Ovale 65">
            <a:extLst>
              <a:ext uri="{FF2B5EF4-FFF2-40B4-BE49-F238E27FC236}">
                <a16:creationId xmlns:a16="http://schemas.microsoft.com/office/drawing/2014/main" id="{17D315A4-C9D3-13A7-9488-7301A486C764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1CF7D23C-E202-DDB0-A8AD-4E769E8B5A41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590721FC-E39D-8661-7656-3F47311323CB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ED243143-1654-5772-730F-70F8D31FE1DC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5B69190F-9941-F383-1C9F-E396AD31CA8C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B78AF8FD-225F-5161-64EC-8482888CBBB4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2" name="Ovale 71">
            <a:extLst>
              <a:ext uri="{FF2B5EF4-FFF2-40B4-BE49-F238E27FC236}">
                <a16:creationId xmlns:a16="http://schemas.microsoft.com/office/drawing/2014/main" id="{821F3260-383E-B476-5F43-16003F637FE1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A9ECDACD-2564-A49B-69CA-BA4F08293F7D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4" name="Ovale 73">
            <a:extLst>
              <a:ext uri="{FF2B5EF4-FFF2-40B4-BE49-F238E27FC236}">
                <a16:creationId xmlns:a16="http://schemas.microsoft.com/office/drawing/2014/main" id="{1451FFCB-502C-AF3A-A6E4-A040B0C6B86A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50BF4AC0-69BD-F501-B525-3674C0ED7F66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687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0D33A-D5D2-76C5-0845-80FD7788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1B8B75E-7670-281C-9C30-D5BCD94C4F38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5922D375-4F9B-8B14-CC56-866B22CB4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2D3717F-322F-1ABC-4880-EB19A19C794F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8" name="Sottotitolo 5">
            <a:extLst>
              <a:ext uri="{FF2B5EF4-FFF2-40B4-BE49-F238E27FC236}">
                <a16:creationId xmlns:a16="http://schemas.microsoft.com/office/drawing/2014/main" id="{C3FBD6B7-6187-A355-ADC0-B4A5DCE04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7359" y="1287580"/>
            <a:ext cx="2757282" cy="517695"/>
          </a:xfrm>
        </p:spPr>
        <p:txBody>
          <a:bodyPr>
            <a:noAutofit/>
          </a:bodyPr>
          <a:lstStyle/>
          <a:p>
            <a:r>
              <a:rPr lang="it-IT" sz="2000" b="1" dirty="0"/>
              <a:t>APPLICATION CONTEXT</a:t>
            </a:r>
          </a:p>
        </p:txBody>
      </p:sp>
      <p:sp>
        <p:nvSpPr>
          <p:cNvPr id="9" name="Sottotitolo 5">
            <a:extLst>
              <a:ext uri="{FF2B5EF4-FFF2-40B4-BE49-F238E27FC236}">
                <a16:creationId xmlns:a16="http://schemas.microsoft.com/office/drawing/2014/main" id="{70956669-E4FD-95E4-45BF-8BCBB868DC45}"/>
              </a:ext>
            </a:extLst>
          </p:cNvPr>
          <p:cNvSpPr txBox="1">
            <a:spLocks/>
          </p:cNvSpPr>
          <p:nvPr/>
        </p:nvSpPr>
        <p:spPr>
          <a:xfrm>
            <a:off x="5144280" y="1225442"/>
            <a:ext cx="1903440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sp>
        <p:nvSpPr>
          <p:cNvPr id="5" name="Sottotitolo 5">
            <a:extLst>
              <a:ext uri="{FF2B5EF4-FFF2-40B4-BE49-F238E27FC236}">
                <a16:creationId xmlns:a16="http://schemas.microsoft.com/office/drawing/2014/main" id="{1B1CC9DB-2B06-F317-95FF-87E43330313F}"/>
              </a:ext>
            </a:extLst>
          </p:cNvPr>
          <p:cNvSpPr txBox="1">
            <a:spLocks/>
          </p:cNvSpPr>
          <p:nvPr/>
        </p:nvSpPr>
        <p:spPr>
          <a:xfrm>
            <a:off x="2137837" y="2891953"/>
            <a:ext cx="2355821" cy="517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b="1" dirty="0"/>
          </a:p>
        </p:txBody>
      </p:sp>
      <p:pic>
        <p:nvPicPr>
          <p:cNvPr id="10" name="Immagine 9" descr="Immagine che contiene specchio, automobile, aria aperta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ABFBD0EC-5C7C-E767-4210-D3E3B524E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26" y="2091082"/>
            <a:ext cx="3887481" cy="2040928"/>
          </a:xfrm>
          <a:prstGeom prst="rect">
            <a:avLst/>
          </a:prstGeom>
        </p:spPr>
      </p:pic>
      <p:pic>
        <p:nvPicPr>
          <p:cNvPr id="12" name="Immagine 11" descr="Immagine che contiene pneumatico, ruota, Ricambio auto, veicolo&#10;&#10;Il contenuto generato dall'IA potrebbe non essere corretto.">
            <a:extLst>
              <a:ext uri="{FF2B5EF4-FFF2-40B4-BE49-F238E27FC236}">
                <a16:creationId xmlns:a16="http://schemas.microsoft.com/office/drawing/2014/main" id="{BC8FE407-9C60-1CB5-F21B-A9B1F0AD7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2881" y="3111546"/>
            <a:ext cx="3534632" cy="2458874"/>
          </a:xfrm>
          <a:prstGeom prst="rect">
            <a:avLst/>
          </a:prstGeom>
        </p:spPr>
      </p:pic>
      <p:pic>
        <p:nvPicPr>
          <p:cNvPr id="14" name="Immagine 13" descr="Immagine che contiene veicolo, aria aperta, sport motoristici, Pista&#10;&#10;Il contenuto generato dall'IA potrebbe non essere corretto.">
            <a:extLst>
              <a:ext uri="{FF2B5EF4-FFF2-40B4-BE49-F238E27FC236}">
                <a16:creationId xmlns:a16="http://schemas.microsoft.com/office/drawing/2014/main" id="{98A79079-D301-3ADD-4D91-3F1361E3EC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038" y="1935992"/>
            <a:ext cx="3534632" cy="2356422"/>
          </a:xfrm>
          <a:prstGeom prst="rect">
            <a:avLst/>
          </a:prstGeom>
        </p:spPr>
      </p:pic>
      <p:sp>
        <p:nvSpPr>
          <p:cNvPr id="27" name="Ovale 26">
            <a:extLst>
              <a:ext uri="{FF2B5EF4-FFF2-40B4-BE49-F238E27FC236}">
                <a16:creationId xmlns:a16="http://schemas.microsoft.com/office/drawing/2014/main" id="{EB70EFA3-114B-B372-9C99-7D12181E3820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BEEE2566-EAA5-526A-5C7E-063C274AA6A6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74EA7566-153A-C72E-6885-A8294536E8E2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0FB2513E-19FF-E963-D3A5-CBBDE79C8449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A233A50A-0DC8-80EB-AF04-E3D1D5273C5F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071271FB-EC06-0EF4-5C2F-A837D1028CB7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93365015-03C3-6D01-26E5-FFA4B62C608E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9" name="Connettore 1 48">
            <a:extLst>
              <a:ext uri="{FF2B5EF4-FFF2-40B4-BE49-F238E27FC236}">
                <a16:creationId xmlns:a16="http://schemas.microsoft.com/office/drawing/2014/main" id="{985B6FD8-4B37-C1BC-D47C-B6C7CACB2A6E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Ovale 49">
            <a:extLst>
              <a:ext uri="{FF2B5EF4-FFF2-40B4-BE49-F238E27FC236}">
                <a16:creationId xmlns:a16="http://schemas.microsoft.com/office/drawing/2014/main" id="{70D2830A-0D72-E583-922C-7622D0F7DB08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36F6EA1C-D793-39BC-5AF3-FB22732B3843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EFA5C3F1-97C0-CB20-430A-6B9B1BBB1D2F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Ovale 54">
            <a:extLst>
              <a:ext uri="{FF2B5EF4-FFF2-40B4-BE49-F238E27FC236}">
                <a16:creationId xmlns:a16="http://schemas.microsoft.com/office/drawing/2014/main" id="{53058C47-3303-1C27-6CF4-AA91D16F1E94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Ovale 55">
            <a:extLst>
              <a:ext uri="{FF2B5EF4-FFF2-40B4-BE49-F238E27FC236}">
                <a16:creationId xmlns:a16="http://schemas.microsoft.com/office/drawing/2014/main" id="{2927CBF9-C6F8-2B71-3655-C5468D4E6DE8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Ovale 56">
            <a:extLst>
              <a:ext uri="{FF2B5EF4-FFF2-40B4-BE49-F238E27FC236}">
                <a16:creationId xmlns:a16="http://schemas.microsoft.com/office/drawing/2014/main" id="{A5AFA8F6-FE5E-9480-E6C8-7FE57B3D4DB0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67C9018B-D709-766F-7C94-5605B574298A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Ovale 58">
            <a:extLst>
              <a:ext uri="{FF2B5EF4-FFF2-40B4-BE49-F238E27FC236}">
                <a16:creationId xmlns:a16="http://schemas.microsoft.com/office/drawing/2014/main" id="{3ABB6B5D-38FD-C206-EA54-D19A0EB27B66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5A9A5E3D-55CA-BD73-6444-E2DCD00EEF24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55215DF2-3DC7-2621-100D-E0FFAE15B2E7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788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0A1E1-E1E5-3900-E875-B1F2A54B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10CC99B-B65B-1B4A-AB8C-5490C02C4907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CE0AFAED-9FFF-409D-B6DF-D642EC22C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51BB1A7-A62E-A7A0-5F0F-03CEA9604807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80D205F6-C8AC-F63E-FE0E-2A1819DE7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4279" y="1288546"/>
            <a:ext cx="1903440" cy="517695"/>
          </a:xfrm>
        </p:spPr>
        <p:txBody>
          <a:bodyPr>
            <a:normAutofit/>
          </a:bodyPr>
          <a:lstStyle/>
          <a:p>
            <a:r>
              <a:rPr lang="it-IT" sz="2000" b="1" dirty="0"/>
              <a:t>PROJECT GOAL</a:t>
            </a:r>
          </a:p>
        </p:txBody>
      </p:sp>
      <p:pic>
        <p:nvPicPr>
          <p:cNvPr id="10" name="Immagine 9" descr="Immagine che contiene aria aperta, veicolo, cielo, sport motoristici&#10;&#10;Il contenuto generato dall'IA potrebbe non essere corretto.">
            <a:extLst>
              <a:ext uri="{FF2B5EF4-FFF2-40B4-BE49-F238E27FC236}">
                <a16:creationId xmlns:a16="http://schemas.microsoft.com/office/drawing/2014/main" id="{12267B38-779A-BCD0-E21A-1E14448C4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92" y="2216134"/>
            <a:ext cx="4312411" cy="2425731"/>
          </a:xfrm>
          <a:prstGeom prst="rect">
            <a:avLst/>
          </a:prstGeom>
        </p:spPr>
      </p:pic>
      <p:pic>
        <p:nvPicPr>
          <p:cNvPr id="14" name="Immagine 13" descr="Immagine che contiene aria aperta, veicolo, cielo, sport motoristici&#10;&#10;Il contenuto generato dall'IA potrebbe non essere corretto.">
            <a:extLst>
              <a:ext uri="{FF2B5EF4-FFF2-40B4-BE49-F238E27FC236}">
                <a16:creationId xmlns:a16="http://schemas.microsoft.com/office/drawing/2014/main" id="{C2EB7EB4-52D6-E569-642A-D7208CFBD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096" y="2216134"/>
            <a:ext cx="4312411" cy="2425731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72B1F2DA-A5D1-7CE4-0B3A-5176FDB9CFB1}"/>
              </a:ext>
            </a:extLst>
          </p:cNvPr>
          <p:cNvSpPr/>
          <p:nvPr/>
        </p:nvSpPr>
        <p:spPr>
          <a:xfrm>
            <a:off x="10925092" y="2926080"/>
            <a:ext cx="262393" cy="23058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0" name="Immagine 29" descr="Immagine che contiene schermata, Carattere, Elementi grafici, testo&#10;&#10;Il contenuto generato dall'IA potrebbe non essere corretto.">
            <a:extLst>
              <a:ext uri="{FF2B5EF4-FFF2-40B4-BE49-F238E27FC236}">
                <a16:creationId xmlns:a16="http://schemas.microsoft.com/office/drawing/2014/main" id="{F01D57FB-BB7D-2C10-22DB-27E8F5C52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101" y="4641865"/>
            <a:ext cx="1685191" cy="1685191"/>
          </a:xfrm>
          <a:prstGeom prst="rect">
            <a:avLst/>
          </a:prstGeom>
        </p:spPr>
      </p:pic>
      <p:pic>
        <p:nvPicPr>
          <p:cNvPr id="33" name="Immagine 32" descr="Immagine che contiene Carminio, Coquelicot, rosso&#10;&#10;Il contenuto generato dall'IA potrebbe non essere corretto.">
            <a:extLst>
              <a:ext uri="{FF2B5EF4-FFF2-40B4-BE49-F238E27FC236}">
                <a16:creationId xmlns:a16="http://schemas.microsoft.com/office/drawing/2014/main" id="{A278DF24-C586-F682-9180-18B4939F2E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9242537" y="4917696"/>
            <a:ext cx="1133527" cy="1133527"/>
          </a:xfrm>
          <a:prstGeom prst="rect">
            <a:avLst/>
          </a:prstGeom>
        </p:spPr>
      </p:pic>
      <p:pic>
        <p:nvPicPr>
          <p:cNvPr id="36" name="Immagine 35" descr="Immagine che contiene circuito, Ingegneria elettronica, Componente elettrico, Componente di circuito&#10;&#10;Il contenuto generato dall'IA potrebbe non essere corretto.">
            <a:extLst>
              <a:ext uri="{FF2B5EF4-FFF2-40B4-BE49-F238E27FC236}">
                <a16:creationId xmlns:a16="http://schemas.microsoft.com/office/drawing/2014/main" id="{FCD9692F-D561-1C10-CC8F-6828C7FDA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4663" y="2621914"/>
            <a:ext cx="2582672" cy="1614170"/>
          </a:xfrm>
          <a:prstGeom prst="rect">
            <a:avLst/>
          </a:prstGeom>
        </p:spPr>
      </p:pic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465211B4-CC76-95AB-A53F-0BBA17310F79}"/>
              </a:ext>
            </a:extLst>
          </p:cNvPr>
          <p:cNvSpPr txBox="1"/>
          <p:nvPr/>
        </p:nvSpPr>
        <p:spPr>
          <a:xfrm>
            <a:off x="10639068" y="3041374"/>
            <a:ext cx="794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solidFill>
                  <a:srgbClr val="FFFF00"/>
                </a:solidFill>
              </a:rPr>
              <a:t>distance</a:t>
            </a:r>
            <a:endParaRPr lang="it-IT" sz="1400" dirty="0">
              <a:solidFill>
                <a:srgbClr val="FFFF00"/>
              </a:solidFill>
            </a:endParaRP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C40A2B8B-BB3F-31A2-3F43-B800076C4BD5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7371B031-AA1F-E60A-4BD9-D7FDF32D78B4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A0F3CE66-D8AD-8A5B-DB27-77A3E7BFDBAB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4DC7B5DB-ABF4-621D-A296-0B9208195189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24485580-1C2D-60B5-46ED-104FDDC8ABC0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B632933E-67CE-D0C1-2AE1-EC17FFFAA8E5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DCEBD329-FA97-E875-D827-69E6FA41B0F2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BA5858D2-EAE1-0F6B-D649-870BC8C0DBA3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Ovale 21">
            <a:extLst>
              <a:ext uri="{FF2B5EF4-FFF2-40B4-BE49-F238E27FC236}">
                <a16:creationId xmlns:a16="http://schemas.microsoft.com/office/drawing/2014/main" id="{59404CE9-F0EC-4172-2381-27975BED5AC9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58E5AB59-FF95-F6C8-EC09-80E839B83561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313376B1-221F-B8D9-8BF0-60273B530998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2BE7C072-87E7-485D-6DE3-EEC00D331887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5C235A7C-D4B6-9AC1-56C2-FCFC28103E87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3C33ED5C-225F-3039-EA98-4F41CD7B7650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3ED3B778-AC27-393F-4258-7C2002AE454A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AF4036FA-5569-393C-7B34-8981D43A7566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8F7475AD-FBAA-0CCD-0994-A1AE518C5AA5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F6E22BE7-D9A0-3E63-9927-045CE9E9720C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0816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2E83-8483-ABA2-5EA5-48892EF0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63CC56C-C705-8DE9-30E8-E1992D7F53E2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BC688697-AFC2-4CA7-3F2F-00AB5ED2C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92A6CFDC-69A1-91FA-F867-AE318EC3EBA4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AFCE82A7-3AE8-925B-EF38-E9FC90204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4280" y="1289237"/>
            <a:ext cx="1903440" cy="517695"/>
          </a:xfrm>
        </p:spPr>
        <p:txBody>
          <a:bodyPr>
            <a:normAutofit/>
          </a:bodyPr>
          <a:lstStyle/>
          <a:p>
            <a:r>
              <a:rPr lang="it-IT" sz="2000" b="1" dirty="0"/>
              <a:t>CHALLENGE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1BC6166-CFB2-96F3-05EA-83ED5EC51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259" y="3381367"/>
            <a:ext cx="3932145" cy="2212487"/>
          </a:xfrm>
          <a:prstGeom prst="rect">
            <a:avLst/>
          </a:prstGeom>
        </p:spPr>
      </p:pic>
      <p:pic>
        <p:nvPicPr>
          <p:cNvPr id="9" name="Immagine 8" descr="Immagine che contiene veicolo, automobile, Veicolo terrestre, Ricambio auto&#10;&#10;Il contenuto generato dall'IA potrebbe non essere corretto.">
            <a:extLst>
              <a:ext uri="{FF2B5EF4-FFF2-40B4-BE49-F238E27FC236}">
                <a16:creationId xmlns:a16="http://schemas.microsoft.com/office/drawing/2014/main" id="{402D08B1-B58F-90C9-77D9-040E219F7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96" y="3381367"/>
            <a:ext cx="3932145" cy="2212488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1E2723B-C705-F89A-ECEE-E4BB485A3776}"/>
              </a:ext>
            </a:extLst>
          </p:cNvPr>
          <p:cNvSpPr txBox="1"/>
          <p:nvPr/>
        </p:nvSpPr>
        <p:spPr>
          <a:xfrm>
            <a:off x="1713218" y="2597644"/>
            <a:ext cx="2519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Just a </a:t>
            </a:r>
            <a:r>
              <a:rPr lang="it-IT" dirty="0" err="1"/>
              <a:t>monocular</a:t>
            </a:r>
            <a:r>
              <a:rPr lang="it-IT" dirty="0"/>
              <a:t> camera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E57FC49-E332-4E51-FBAD-293BF72C4B1A}"/>
              </a:ext>
            </a:extLst>
          </p:cNvPr>
          <p:cNvSpPr txBox="1"/>
          <p:nvPr/>
        </p:nvSpPr>
        <p:spPr>
          <a:xfrm>
            <a:off x="9048364" y="2597644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Lidar</a:t>
            </a:r>
          </a:p>
        </p:txBody>
      </p:sp>
      <p:pic>
        <p:nvPicPr>
          <p:cNvPr id="18" name="Immagine 17" descr="Immagine che contiene Elementi grafici, simbolo, cerchio, logo&#10;&#10;Descrizione generata automaticamente">
            <a:extLst>
              <a:ext uri="{FF2B5EF4-FFF2-40B4-BE49-F238E27FC236}">
                <a16:creationId xmlns:a16="http://schemas.microsoft.com/office/drawing/2014/main" id="{A2BB0CD8-C02D-A919-40F4-344E264FFA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789" r="21441"/>
          <a:stretch/>
        </p:blipFill>
        <p:spPr>
          <a:xfrm>
            <a:off x="1478273" y="2649054"/>
            <a:ext cx="234945" cy="266512"/>
          </a:xfrm>
          <a:prstGeom prst="rect">
            <a:avLst/>
          </a:prstGeom>
        </p:spPr>
      </p:pic>
      <p:pic>
        <p:nvPicPr>
          <p:cNvPr id="27" name="Immagine 26" descr="Immagine che contiene simbolo, Carminio&#10;&#10;Il contenuto generato dall'IA potrebbe non essere corretto.">
            <a:extLst>
              <a:ext uri="{FF2B5EF4-FFF2-40B4-BE49-F238E27FC236}">
                <a16:creationId xmlns:a16="http://schemas.microsoft.com/office/drawing/2014/main" id="{D0DE56C6-8744-7922-5B1E-59EAF0600F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3646" y="2597644"/>
            <a:ext cx="391861" cy="391861"/>
          </a:xfrm>
          <a:prstGeom prst="rect">
            <a:avLst/>
          </a:prstGeom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8EA1ECD9-8A42-C920-A3C7-DB59AFAD4055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67CD0FA3-9AC6-5D1F-EEF7-3AC6A9EFA07D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9C08A0D-497C-744B-7E67-68564B33EA90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8603400A-73EE-49E2-F40C-8C32CDDE70AD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A4E91FF6-03A0-29BF-5479-C6BF501F9638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7D80E9AB-8607-8302-C1E2-E558D2ADAD12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C048010A-9CAF-DF04-2C46-A53A7A00CFED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9" name="Connettore 1 28">
            <a:extLst>
              <a:ext uri="{FF2B5EF4-FFF2-40B4-BE49-F238E27FC236}">
                <a16:creationId xmlns:a16="http://schemas.microsoft.com/office/drawing/2014/main" id="{E3A6E4B3-ECE6-58D5-E671-C468B3051727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e 29">
            <a:extLst>
              <a:ext uri="{FF2B5EF4-FFF2-40B4-BE49-F238E27FC236}">
                <a16:creationId xmlns:a16="http://schemas.microsoft.com/office/drawing/2014/main" id="{198EF577-F250-7D5B-3621-5D76667D47BA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763556A5-2B52-16B0-4CEA-728EEBB1E994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2EBD0466-7367-DDFD-CDE6-F51A02F0E48C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1285FFEA-EA0C-C220-4E25-BBE8A15F118B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551B87A8-4FFC-6606-9195-804DDFDC89D7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11655CEA-6CCB-AC60-420D-B1D766F2EBC9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FEF10D55-00F4-B121-93DC-97AF6CCC1EED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C77CAC9C-8941-DCAE-93A3-E4260B09430D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E810E803-CAAD-F607-4260-91FCF6EADC65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EDD43915-1F99-F53C-FAD5-E75534AE3D29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57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599A8-8C76-2D7E-BD12-770CBBC1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B609EE1-AC1D-774C-2AE3-7A016EA446FE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803AEBA4-21E3-29F5-6763-8E7FBF66F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926A856-CB1E-2F1B-79FE-C2088D48BFE1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5B1310D2-5227-537D-C061-6E4483D2E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5891" y="1285999"/>
            <a:ext cx="5178056" cy="800108"/>
          </a:xfrm>
        </p:spPr>
        <p:txBody>
          <a:bodyPr>
            <a:normAutofit/>
          </a:bodyPr>
          <a:lstStyle/>
          <a:p>
            <a:r>
              <a:rPr lang="it-IT" sz="2000" b="1" dirty="0"/>
              <a:t>COMPARISON WITH ALTERNATIVE SOLUTIONS</a:t>
            </a:r>
          </a:p>
        </p:txBody>
      </p:sp>
      <p:pic>
        <p:nvPicPr>
          <p:cNvPr id="8" name="Immagine 7" descr="Immagine che contiene Strumento ottico, Videocamere/fotocamere e obiettivi, proiettore, videocamera/fotocamera&#10;&#10;Il contenuto generato dall'IA potrebbe non essere corretto.">
            <a:extLst>
              <a:ext uri="{FF2B5EF4-FFF2-40B4-BE49-F238E27FC236}">
                <a16:creationId xmlns:a16="http://schemas.microsoft.com/office/drawing/2014/main" id="{24529691-AE30-08D5-A8AB-AE2979FD3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326" y="1949320"/>
            <a:ext cx="2517186" cy="2622069"/>
          </a:xfrm>
          <a:prstGeom prst="rect">
            <a:avLst/>
          </a:prstGeom>
        </p:spPr>
      </p:pic>
      <p:pic>
        <p:nvPicPr>
          <p:cNvPr id="12" name="Immagine 11" descr="Immagine che contiene videocamera/fotocamera&#10;&#10;Il contenuto generato dall'IA potrebbe non essere corretto.">
            <a:extLst>
              <a:ext uri="{FF2B5EF4-FFF2-40B4-BE49-F238E27FC236}">
                <a16:creationId xmlns:a16="http://schemas.microsoft.com/office/drawing/2014/main" id="{DC5CAC16-5290-A240-0689-4963F08419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12" t="8752" r="4348" b="17505"/>
          <a:stretch>
            <a:fillRect/>
          </a:stretch>
        </p:blipFill>
        <p:spPr>
          <a:xfrm>
            <a:off x="8617647" y="2100655"/>
            <a:ext cx="3124384" cy="2522426"/>
          </a:xfrm>
          <a:prstGeom prst="rect">
            <a:avLst/>
          </a:prstGeom>
        </p:spPr>
      </p:pic>
      <p:pic>
        <p:nvPicPr>
          <p:cNvPr id="15" name="Immagine 14" descr="Immagine che contiene Elettrodomestico, elettronica, Dispositivo elettronico, Dispositivo di output&#10;&#10;Il contenuto generato dall'IA potrebbe non essere corretto.">
            <a:extLst>
              <a:ext uri="{FF2B5EF4-FFF2-40B4-BE49-F238E27FC236}">
                <a16:creationId xmlns:a16="http://schemas.microsoft.com/office/drawing/2014/main" id="{D1C61D74-08C3-8E44-96D6-CD4C3126EA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335" r="16612"/>
          <a:stretch>
            <a:fillRect/>
          </a:stretch>
        </p:blipFill>
        <p:spPr>
          <a:xfrm>
            <a:off x="739249" y="2100655"/>
            <a:ext cx="3029723" cy="2231528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A94317F-4CD2-3DFD-0BA5-7E06CA6C7AD1}"/>
              </a:ext>
            </a:extLst>
          </p:cNvPr>
          <p:cNvSpPr txBox="1"/>
          <p:nvPr/>
        </p:nvSpPr>
        <p:spPr>
          <a:xfrm>
            <a:off x="1258602" y="4438415"/>
            <a:ext cx="1115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Expensive</a:t>
            </a:r>
            <a:endParaRPr lang="it-IT" dirty="0"/>
          </a:p>
        </p:txBody>
      </p:sp>
      <p:pic>
        <p:nvPicPr>
          <p:cNvPr id="23" name="Immagine 22" descr="Immagine che contiene simbolo, Carminio&#10;&#10;Il contenuto generato dall'IA potrebbe non essere corretto.">
            <a:extLst>
              <a:ext uri="{FF2B5EF4-FFF2-40B4-BE49-F238E27FC236}">
                <a16:creationId xmlns:a16="http://schemas.microsoft.com/office/drawing/2014/main" id="{550F7711-2EE0-6D25-9EDA-E18BA0ED56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884" y="4438415"/>
            <a:ext cx="391861" cy="391861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FDBAC59-D4FE-3CF7-9642-544B8FB68964}"/>
              </a:ext>
            </a:extLst>
          </p:cNvPr>
          <p:cNvSpPr txBox="1"/>
          <p:nvPr/>
        </p:nvSpPr>
        <p:spPr>
          <a:xfrm>
            <a:off x="1258602" y="4830276"/>
            <a:ext cx="760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Heavy</a:t>
            </a:r>
          </a:p>
        </p:txBody>
      </p:sp>
      <p:pic>
        <p:nvPicPr>
          <p:cNvPr id="25" name="Immagine 24" descr="Immagine che contiene simbolo, Carminio&#10;&#10;Il contenuto generato dall'IA potrebbe non essere corretto.">
            <a:extLst>
              <a:ext uri="{FF2B5EF4-FFF2-40B4-BE49-F238E27FC236}">
                <a16:creationId xmlns:a16="http://schemas.microsoft.com/office/drawing/2014/main" id="{CF9310F0-93CF-2FDB-756B-5C551DE64A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884" y="4830276"/>
            <a:ext cx="391861" cy="391861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F7BEBEA-5B49-C006-3407-D6D24686377A}"/>
              </a:ext>
            </a:extLst>
          </p:cNvPr>
          <p:cNvSpPr txBox="1"/>
          <p:nvPr/>
        </p:nvSpPr>
        <p:spPr>
          <a:xfrm>
            <a:off x="10029790" y="4807747"/>
            <a:ext cx="1000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Complex</a:t>
            </a:r>
            <a:endParaRPr lang="it-IT" dirty="0"/>
          </a:p>
        </p:txBody>
      </p:sp>
      <p:pic>
        <p:nvPicPr>
          <p:cNvPr id="29" name="Immagine 28" descr="Immagine che contiene simbolo, Carminio&#10;&#10;Il contenuto generato dall'IA potrebbe non essere corretto.">
            <a:extLst>
              <a:ext uri="{FF2B5EF4-FFF2-40B4-BE49-F238E27FC236}">
                <a16:creationId xmlns:a16="http://schemas.microsoft.com/office/drawing/2014/main" id="{B52F1A52-4848-A7FC-BBE8-F2FE832E2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5072" y="4807747"/>
            <a:ext cx="391861" cy="391861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4CB5BB8-D5BD-9C06-64CA-A69F1F9C430B}"/>
              </a:ext>
            </a:extLst>
          </p:cNvPr>
          <p:cNvSpPr txBox="1"/>
          <p:nvPr/>
        </p:nvSpPr>
        <p:spPr>
          <a:xfrm>
            <a:off x="4814489" y="4658892"/>
            <a:ext cx="1003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Low cost</a:t>
            </a:r>
          </a:p>
        </p:txBody>
      </p:sp>
      <p:pic>
        <p:nvPicPr>
          <p:cNvPr id="32" name="Immagine 31" descr="Immagine che contiene Elementi grafici, simbolo, cerchio, logo&#10;&#10;Descrizione generata automaticamente">
            <a:extLst>
              <a:ext uri="{FF2B5EF4-FFF2-40B4-BE49-F238E27FC236}">
                <a16:creationId xmlns:a16="http://schemas.microsoft.com/office/drawing/2014/main" id="{FEAF3AC9-5F34-86E5-B46C-BB50B07BE93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789" r="21441"/>
          <a:stretch/>
        </p:blipFill>
        <p:spPr>
          <a:xfrm>
            <a:off x="4579544" y="4710302"/>
            <a:ext cx="234945" cy="266512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41969149-80FD-0B31-3B28-B43EE3A9F587}"/>
              </a:ext>
            </a:extLst>
          </p:cNvPr>
          <p:cNvSpPr txBox="1"/>
          <p:nvPr/>
        </p:nvSpPr>
        <p:spPr>
          <a:xfrm>
            <a:off x="4814489" y="5071014"/>
            <a:ext cx="641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Light</a:t>
            </a:r>
          </a:p>
        </p:txBody>
      </p:sp>
      <p:pic>
        <p:nvPicPr>
          <p:cNvPr id="34" name="Immagine 33" descr="Immagine che contiene Elementi grafici, simbolo, cerchio, logo&#10;&#10;Descrizione generata automaticamente">
            <a:extLst>
              <a:ext uri="{FF2B5EF4-FFF2-40B4-BE49-F238E27FC236}">
                <a16:creationId xmlns:a16="http://schemas.microsoft.com/office/drawing/2014/main" id="{23832ED0-576F-5F41-45F5-101A387D0BF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789" r="21441"/>
          <a:stretch/>
        </p:blipFill>
        <p:spPr>
          <a:xfrm>
            <a:off x="4579544" y="5122424"/>
            <a:ext cx="234945" cy="266512"/>
          </a:xfrm>
          <a:prstGeom prst="rect">
            <a:avLst/>
          </a:prstGeom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C9E71400-49F9-A310-6919-2E642BCFB382}"/>
              </a:ext>
            </a:extLst>
          </p:cNvPr>
          <p:cNvSpPr txBox="1"/>
          <p:nvPr/>
        </p:nvSpPr>
        <p:spPr>
          <a:xfrm>
            <a:off x="4814489" y="5534546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Smart</a:t>
            </a:r>
          </a:p>
        </p:txBody>
      </p:sp>
      <p:pic>
        <p:nvPicPr>
          <p:cNvPr id="37" name="Immagine 36" descr="Immagine che contiene Elementi grafici, simbolo, cerchio, logo&#10;&#10;Descrizione generata automaticamente">
            <a:extLst>
              <a:ext uri="{FF2B5EF4-FFF2-40B4-BE49-F238E27FC236}">
                <a16:creationId xmlns:a16="http://schemas.microsoft.com/office/drawing/2014/main" id="{9A7AD6E7-94C7-3BC8-4BEC-C8EC1CE0C8F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789" r="21441"/>
          <a:stretch/>
        </p:blipFill>
        <p:spPr>
          <a:xfrm>
            <a:off x="4579544" y="5585956"/>
            <a:ext cx="234945" cy="266512"/>
          </a:xfrm>
          <a:prstGeom prst="rect">
            <a:avLst/>
          </a:prstGeom>
        </p:spPr>
      </p:pic>
      <p:sp>
        <p:nvSpPr>
          <p:cNvPr id="38" name="Ovale 37">
            <a:extLst>
              <a:ext uri="{FF2B5EF4-FFF2-40B4-BE49-F238E27FC236}">
                <a16:creationId xmlns:a16="http://schemas.microsoft.com/office/drawing/2014/main" id="{177A83F9-1FA0-AEF1-7731-208E261A3F24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2F830AE0-B494-9051-E80D-9C3294BF0EAD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2E70CDE6-24CA-4C5C-278A-4E3308EA079B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74F3C1A6-B8E1-ABA4-8945-1AFB0E585E81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66B33793-EBF7-3597-8E49-A28DC2314986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AE5F06B7-78FB-EB06-CA8F-286636E18E51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Ovale 43">
            <a:extLst>
              <a:ext uri="{FF2B5EF4-FFF2-40B4-BE49-F238E27FC236}">
                <a16:creationId xmlns:a16="http://schemas.microsoft.com/office/drawing/2014/main" id="{C89B1139-658B-217A-E20F-5728EC5CC3E3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5" name="Connettore 1 44">
            <a:extLst>
              <a:ext uri="{FF2B5EF4-FFF2-40B4-BE49-F238E27FC236}">
                <a16:creationId xmlns:a16="http://schemas.microsoft.com/office/drawing/2014/main" id="{963EB541-352F-B3EF-BE66-575947DCBF19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Ovale 45">
            <a:extLst>
              <a:ext uri="{FF2B5EF4-FFF2-40B4-BE49-F238E27FC236}">
                <a16:creationId xmlns:a16="http://schemas.microsoft.com/office/drawing/2014/main" id="{A7BDE463-394F-9567-7126-DCF79FE963F9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3B635823-EB5F-721F-01CB-34D8B204DE72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2F423693-96CE-6076-D42E-A66276C89542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Ovale 48">
            <a:extLst>
              <a:ext uri="{FF2B5EF4-FFF2-40B4-BE49-F238E27FC236}">
                <a16:creationId xmlns:a16="http://schemas.microsoft.com/office/drawing/2014/main" id="{3BBEBA42-51C1-1EDF-3733-370C90C1528C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Ovale 49">
            <a:extLst>
              <a:ext uri="{FF2B5EF4-FFF2-40B4-BE49-F238E27FC236}">
                <a16:creationId xmlns:a16="http://schemas.microsoft.com/office/drawing/2014/main" id="{6366BA23-AD90-3534-CAA0-F52E67B23F8F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F04A8A5A-4053-AC16-3846-FBB753CE9615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38ADB444-27C8-FAAE-A4ED-3F1C4B03CBF9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Ovale 52">
            <a:extLst>
              <a:ext uri="{FF2B5EF4-FFF2-40B4-BE49-F238E27FC236}">
                <a16:creationId xmlns:a16="http://schemas.microsoft.com/office/drawing/2014/main" id="{D0D1F078-A30A-452D-822C-3A5DA8C2CB4D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Ovale 53">
            <a:extLst>
              <a:ext uri="{FF2B5EF4-FFF2-40B4-BE49-F238E27FC236}">
                <a16:creationId xmlns:a16="http://schemas.microsoft.com/office/drawing/2014/main" id="{A0522CBE-1D1A-E2EA-3DAF-88B829B125D2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Ovale 54">
            <a:extLst>
              <a:ext uri="{FF2B5EF4-FFF2-40B4-BE49-F238E27FC236}">
                <a16:creationId xmlns:a16="http://schemas.microsoft.com/office/drawing/2014/main" id="{3568BB40-70C4-14CB-51AC-F8F25B301931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3239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849E-1519-B87D-CD7A-45EC198B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09F2D35-5EC1-6803-A6C4-9E79F7F9AC9B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6D4AE1AD-C8F6-EC53-D040-0F4645CA5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8DEF09C-1D0B-9472-7764-27E9BF395C77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53FBB4BD-A1FB-C467-CA55-6C53A9B79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735" y="1305235"/>
            <a:ext cx="2500529" cy="364078"/>
          </a:xfrm>
        </p:spPr>
        <p:txBody>
          <a:bodyPr>
            <a:normAutofit lnSpcReduction="10000"/>
          </a:bodyPr>
          <a:lstStyle/>
          <a:p>
            <a:r>
              <a:rPr lang="it-IT" sz="2000" b="1" dirty="0"/>
              <a:t>POSSIBLE SOLUTION</a:t>
            </a:r>
          </a:p>
        </p:txBody>
      </p:sp>
      <p:pic>
        <p:nvPicPr>
          <p:cNvPr id="3" name="Immagine 2" descr="Immagine che contiene diagramma, schizzo, cerchio, linea&#10;&#10;Il contenuto generato dall'IA potrebbe non essere corretto.">
            <a:extLst>
              <a:ext uri="{FF2B5EF4-FFF2-40B4-BE49-F238E27FC236}">
                <a16:creationId xmlns:a16="http://schemas.microsoft.com/office/drawing/2014/main" id="{AFEEA32B-2040-07B4-B529-CA474D6A9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491" y="2467668"/>
            <a:ext cx="5637016" cy="2568680"/>
          </a:xfrm>
          <a:prstGeom prst="rect">
            <a:avLst/>
          </a:prstGeom>
        </p:spPr>
      </p:pic>
      <p:pic>
        <p:nvPicPr>
          <p:cNvPr id="12" name="Immagine 11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6AECD427-F68F-FCFA-8585-A70AAC1FD7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828" t="19103" r="11402" b="14803"/>
          <a:stretch>
            <a:fillRect/>
          </a:stretch>
        </p:blipFill>
        <p:spPr>
          <a:xfrm>
            <a:off x="783389" y="1896637"/>
            <a:ext cx="2218457" cy="3751462"/>
          </a:xfrm>
          <a:prstGeom prst="rect">
            <a:avLst/>
          </a:prstGeom>
        </p:spPr>
      </p:pic>
      <p:pic>
        <p:nvPicPr>
          <p:cNvPr id="32" name="Immagine 31" descr="Immagine che contiene cartone animato, design, illustrazione, arte&#10;&#10;Il contenuto generato dall'IA potrebbe non essere corretto.">
            <a:extLst>
              <a:ext uri="{FF2B5EF4-FFF2-40B4-BE49-F238E27FC236}">
                <a16:creationId xmlns:a16="http://schemas.microsoft.com/office/drawing/2014/main" id="{E7303FED-76A0-6604-5960-1E84252C32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8057" y="4526222"/>
            <a:ext cx="551400" cy="872065"/>
          </a:xfrm>
          <a:prstGeom prst="rect">
            <a:avLst/>
          </a:prstGeom>
        </p:spPr>
      </p:pic>
      <p:pic>
        <p:nvPicPr>
          <p:cNvPr id="37" name="Immagine 36" descr="Immagine che contiene copricapo, cappello, cono&#10;&#10;Il contenuto generato dall'IA potrebbe non essere corretto.">
            <a:extLst>
              <a:ext uri="{FF2B5EF4-FFF2-40B4-BE49-F238E27FC236}">
                <a16:creationId xmlns:a16="http://schemas.microsoft.com/office/drawing/2014/main" id="{2D590DC0-7E71-808A-3443-A029D85F16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5619" y="2244950"/>
            <a:ext cx="336576" cy="336576"/>
          </a:xfrm>
          <a:prstGeom prst="rect">
            <a:avLst/>
          </a:prstGeom>
        </p:spPr>
      </p:pic>
      <p:pic>
        <p:nvPicPr>
          <p:cNvPr id="40" name="Immagine 39" descr="Immagine che contiene copricapo, cappello, cono&#10;&#10;Il contenuto generato dall'IA potrebbe non essere corretto.">
            <a:extLst>
              <a:ext uri="{FF2B5EF4-FFF2-40B4-BE49-F238E27FC236}">
                <a16:creationId xmlns:a16="http://schemas.microsoft.com/office/drawing/2014/main" id="{AEDCEF3B-888E-66D6-F0FE-0178EC22E7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7768" y="2244950"/>
            <a:ext cx="336576" cy="336576"/>
          </a:xfrm>
          <a:prstGeom prst="rect">
            <a:avLst/>
          </a:prstGeom>
        </p:spPr>
      </p:pic>
      <p:pic>
        <p:nvPicPr>
          <p:cNvPr id="41" name="Immagine 40" descr="Immagine che contiene copricapo, cappello, cono&#10;&#10;Il contenuto generato dall'IA potrebbe non essere corretto.">
            <a:extLst>
              <a:ext uri="{FF2B5EF4-FFF2-40B4-BE49-F238E27FC236}">
                <a16:creationId xmlns:a16="http://schemas.microsoft.com/office/drawing/2014/main" id="{E6D54A79-C3B0-3CBE-1790-3228BD57AA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5619" y="2971464"/>
            <a:ext cx="336576" cy="336576"/>
          </a:xfrm>
          <a:prstGeom prst="rect">
            <a:avLst/>
          </a:prstGeom>
        </p:spPr>
      </p:pic>
      <p:pic>
        <p:nvPicPr>
          <p:cNvPr id="42" name="Immagine 41" descr="Immagine che contiene copricapo, cappello, cono&#10;&#10;Il contenuto generato dall'IA potrebbe non essere corretto.">
            <a:extLst>
              <a:ext uri="{FF2B5EF4-FFF2-40B4-BE49-F238E27FC236}">
                <a16:creationId xmlns:a16="http://schemas.microsoft.com/office/drawing/2014/main" id="{0EFC5672-7B42-194A-E06D-C66FB8943F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7768" y="2971464"/>
            <a:ext cx="336576" cy="336576"/>
          </a:xfrm>
          <a:prstGeom prst="rect">
            <a:avLst/>
          </a:prstGeom>
        </p:spPr>
      </p:pic>
      <p:pic>
        <p:nvPicPr>
          <p:cNvPr id="43" name="Immagine 42" descr="Immagine che contiene copricapo, cappello, cono&#10;&#10;Il contenuto generato dall'IA potrebbe non essere corretto.">
            <a:extLst>
              <a:ext uri="{FF2B5EF4-FFF2-40B4-BE49-F238E27FC236}">
                <a16:creationId xmlns:a16="http://schemas.microsoft.com/office/drawing/2014/main" id="{8F60154B-D8C9-62ED-171B-2EF1AF2E7D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5619" y="3738443"/>
            <a:ext cx="336576" cy="336576"/>
          </a:xfrm>
          <a:prstGeom prst="rect">
            <a:avLst/>
          </a:prstGeom>
        </p:spPr>
      </p:pic>
      <p:pic>
        <p:nvPicPr>
          <p:cNvPr id="44" name="Immagine 43" descr="Immagine che contiene copricapo, cappello, cono&#10;&#10;Il contenuto generato dall'IA potrebbe non essere corretto.">
            <a:extLst>
              <a:ext uri="{FF2B5EF4-FFF2-40B4-BE49-F238E27FC236}">
                <a16:creationId xmlns:a16="http://schemas.microsoft.com/office/drawing/2014/main" id="{AAF3AE30-E969-61D0-3273-DA7C1AC236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7768" y="3738443"/>
            <a:ext cx="336576" cy="336576"/>
          </a:xfrm>
          <a:prstGeom prst="rect">
            <a:avLst/>
          </a:prstGeom>
        </p:spPr>
      </p:pic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371DA777-56FC-84FD-E859-4AE4CBFB3C0A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10353757" y="4075019"/>
            <a:ext cx="581862" cy="45120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68E69809-93B3-35E6-99AC-929A82AEDF42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771895" y="4075019"/>
            <a:ext cx="581862" cy="451203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7ECF4F69-E7A9-1C12-0D5D-0A3241266C87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10353757" y="2541061"/>
            <a:ext cx="610962" cy="198516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13029B48-139E-F91A-FFFF-9316471604DB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742795" y="2520261"/>
            <a:ext cx="610962" cy="2005961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6E007BE6-2BA0-662E-E37A-5A551167EF79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742795" y="3260985"/>
            <a:ext cx="610962" cy="1265237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DCEA8759-2D51-CBEB-BD74-08390D0F1D1B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10353757" y="3304942"/>
            <a:ext cx="595731" cy="122128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FD30941A-F417-2C46-BB93-23372247AE29}"/>
              </a:ext>
            </a:extLst>
          </p:cNvPr>
          <p:cNvSpPr txBox="1"/>
          <p:nvPr/>
        </p:nvSpPr>
        <p:spPr>
          <a:xfrm>
            <a:off x="9870579" y="548015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distance</a:t>
            </a:r>
            <a:endParaRPr lang="it-IT" dirty="0"/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DE814B88-8E6D-9FB4-3D5B-A432AA48AB1A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5D22133A-8733-F960-07F3-27A495EE0A65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B81C252C-AA7D-ACDE-B798-10A65904E120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6EF5B5A6-3B81-1F2B-4C19-60A347125115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18F26D94-06D1-7B15-B8D1-6A1DF625BA24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5D1E5ADF-C5B6-E28B-2985-92962A203916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A54B645F-176F-09FB-A8EF-7541B9C7C345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ABF92BF3-89A0-31DE-DB03-D2F3A6BA2CF9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E2EE45FE-E4AB-72CA-FC01-5BCA49199923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128B24C2-FEFE-CDEA-013A-AF6300DC5B99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58606941-1120-489E-97E5-7409AB31EB80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8BD56608-B954-4457-33F8-42E8525D941E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EF23AD0D-BEA3-134B-2956-1054546F4142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0C37CCCE-8207-7516-D89E-66E60A5EED15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CCD82011-6579-7663-2623-11179BBA9608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CBFA66C3-3E85-B482-AF43-DD3110F4D348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5E4F47B9-2E64-11ED-9BAA-CF500BE04351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3B5B1934-4ADE-C529-7C82-2E4134986022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567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0F0F3-7E0E-2C91-3BDE-177336EA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0A81627-4E68-57C0-7282-954BA4CF4E83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0A529152-093B-BC85-08C0-71F69FC6D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FF247A8-944C-E7A3-F9AC-52A6602F7ED5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AD46CA1A-FCB6-F359-C693-F76911C7D2C7}"/>
              </a:ext>
            </a:extLst>
          </p:cNvPr>
          <p:cNvSpPr/>
          <p:nvPr/>
        </p:nvSpPr>
        <p:spPr>
          <a:xfrm>
            <a:off x="189617" y="3226341"/>
            <a:ext cx="1983471" cy="1247172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dirty="0">
                <a:solidFill>
                  <a:schemeClr val="bg1"/>
                </a:solidFill>
              </a:rPr>
              <a:t>Frame </a:t>
            </a:r>
            <a:r>
              <a:rPr lang="it-IT" sz="1500" dirty="0" err="1">
                <a:solidFill>
                  <a:schemeClr val="bg1"/>
                </a:solidFill>
              </a:rPr>
              <a:t>Acquisition</a:t>
            </a:r>
            <a:r>
              <a:rPr lang="it-IT" sz="1500" dirty="0">
                <a:solidFill>
                  <a:schemeClr val="bg1"/>
                </a:solidFill>
              </a:rPr>
              <a:t> (</a:t>
            </a:r>
            <a:r>
              <a:rPr lang="it-IT" sz="1500" dirty="0" err="1">
                <a:solidFill>
                  <a:schemeClr val="bg1"/>
                </a:solidFill>
              </a:rPr>
              <a:t>Monocular</a:t>
            </a:r>
            <a:r>
              <a:rPr lang="it-IT" sz="1500" dirty="0">
                <a:solidFill>
                  <a:schemeClr val="bg1"/>
                </a:solidFill>
              </a:rPr>
              <a:t> Camera)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9803735A-4894-D107-A2EF-3472D0E3AB75}"/>
              </a:ext>
            </a:extLst>
          </p:cNvPr>
          <p:cNvSpPr/>
          <p:nvPr/>
        </p:nvSpPr>
        <p:spPr>
          <a:xfrm>
            <a:off x="2861486" y="3226341"/>
            <a:ext cx="1664249" cy="1247172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dirty="0">
                <a:solidFill>
                  <a:schemeClr val="bg1"/>
                </a:solidFill>
              </a:rPr>
              <a:t>Dataset </a:t>
            </a:r>
            <a:br>
              <a:rPr lang="it-IT" sz="1500" dirty="0">
                <a:solidFill>
                  <a:schemeClr val="bg1"/>
                </a:solidFill>
              </a:rPr>
            </a:br>
            <a:r>
              <a:rPr lang="it-IT" sz="1500" dirty="0">
                <a:solidFill>
                  <a:schemeClr val="bg1"/>
                </a:solidFill>
              </a:rPr>
              <a:t>(</a:t>
            </a:r>
            <a:r>
              <a:rPr lang="it-IT" sz="1500" dirty="0" err="1">
                <a:solidFill>
                  <a:schemeClr val="bg1"/>
                </a:solidFill>
              </a:rPr>
              <a:t>Annoted</a:t>
            </a:r>
            <a:r>
              <a:rPr lang="it-IT" sz="1500" dirty="0">
                <a:solidFill>
                  <a:schemeClr val="bg1"/>
                </a:solidFill>
              </a:rPr>
              <a:t> </a:t>
            </a:r>
            <a:r>
              <a:rPr lang="it-IT" sz="1500" dirty="0" err="1">
                <a:solidFill>
                  <a:schemeClr val="bg1"/>
                </a:solidFill>
              </a:rPr>
              <a:t>Cones</a:t>
            </a:r>
            <a:r>
              <a:rPr lang="it-IT" sz="15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EA669BDA-552E-2B35-7CDD-892227CF244A}"/>
              </a:ext>
            </a:extLst>
          </p:cNvPr>
          <p:cNvSpPr/>
          <p:nvPr/>
        </p:nvSpPr>
        <p:spPr>
          <a:xfrm>
            <a:off x="8414712" y="3231044"/>
            <a:ext cx="1831604" cy="1247172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dirty="0" err="1">
                <a:solidFill>
                  <a:schemeClr val="bg1"/>
                </a:solidFill>
              </a:rPr>
              <a:t>Neural</a:t>
            </a:r>
            <a:r>
              <a:rPr lang="it-IT" sz="1500" dirty="0">
                <a:solidFill>
                  <a:schemeClr val="bg1"/>
                </a:solidFill>
              </a:rPr>
              <a:t> Network </a:t>
            </a:r>
            <a:br>
              <a:rPr lang="it-IT" sz="1500" dirty="0">
                <a:solidFill>
                  <a:schemeClr val="bg1"/>
                </a:solidFill>
              </a:rPr>
            </a:br>
            <a:r>
              <a:rPr lang="it-IT" sz="1500" dirty="0">
                <a:solidFill>
                  <a:schemeClr val="bg1"/>
                </a:solidFill>
              </a:rPr>
              <a:t>(CNN Architecture)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1A9BB168-0634-4AFE-AFA0-8E9DB97673C3}"/>
              </a:ext>
            </a:extLst>
          </p:cNvPr>
          <p:cNvSpPr/>
          <p:nvPr/>
        </p:nvSpPr>
        <p:spPr>
          <a:xfrm>
            <a:off x="9780607" y="1887758"/>
            <a:ext cx="2083442" cy="1247172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dirty="0">
                <a:solidFill>
                  <a:schemeClr val="bg1"/>
                </a:solidFill>
              </a:rPr>
              <a:t>Training and </a:t>
            </a:r>
            <a:r>
              <a:rPr lang="it-IT" sz="1500" dirty="0" err="1">
                <a:solidFill>
                  <a:schemeClr val="bg1"/>
                </a:solidFill>
              </a:rPr>
              <a:t>Validation</a:t>
            </a:r>
            <a:r>
              <a:rPr lang="it-IT" sz="1500" dirty="0">
                <a:solidFill>
                  <a:schemeClr val="bg1"/>
                </a:solidFill>
              </a:rPr>
              <a:t> </a:t>
            </a:r>
            <a:br>
              <a:rPr lang="it-IT" sz="1500" dirty="0">
                <a:solidFill>
                  <a:schemeClr val="bg1"/>
                </a:solidFill>
              </a:rPr>
            </a:br>
            <a:r>
              <a:rPr lang="it-IT" sz="1500" dirty="0">
                <a:solidFill>
                  <a:schemeClr val="bg1"/>
                </a:solidFill>
              </a:rPr>
              <a:t>(Loss, </a:t>
            </a:r>
            <a:r>
              <a:rPr lang="it-IT" sz="1500" dirty="0" err="1">
                <a:solidFill>
                  <a:schemeClr val="bg1"/>
                </a:solidFill>
              </a:rPr>
              <a:t>Metrics</a:t>
            </a:r>
            <a:r>
              <a:rPr lang="it-IT" sz="15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306086A5-8A71-11BF-8CED-72A59E229B7E}"/>
              </a:ext>
            </a:extLst>
          </p:cNvPr>
          <p:cNvSpPr/>
          <p:nvPr/>
        </p:nvSpPr>
        <p:spPr>
          <a:xfrm>
            <a:off x="5346932" y="3226341"/>
            <a:ext cx="2246583" cy="1247172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dirty="0" err="1">
                <a:solidFill>
                  <a:schemeClr val="bg1"/>
                </a:solidFill>
              </a:rPr>
              <a:t>Preprocessing</a:t>
            </a:r>
            <a:r>
              <a:rPr lang="it-IT" sz="1500" dirty="0">
                <a:solidFill>
                  <a:schemeClr val="bg1"/>
                </a:solidFill>
              </a:rPr>
              <a:t> </a:t>
            </a:r>
            <a:br>
              <a:rPr lang="it-IT" sz="1500" dirty="0">
                <a:solidFill>
                  <a:schemeClr val="bg1"/>
                </a:solidFill>
              </a:rPr>
            </a:br>
            <a:r>
              <a:rPr lang="it-IT" sz="1500" dirty="0">
                <a:solidFill>
                  <a:schemeClr val="bg1"/>
                </a:solidFill>
              </a:rPr>
              <a:t>(</a:t>
            </a:r>
            <a:r>
              <a:rPr lang="it-IT" sz="1500" dirty="0" err="1">
                <a:solidFill>
                  <a:schemeClr val="bg1"/>
                </a:solidFill>
              </a:rPr>
              <a:t>Resizing</a:t>
            </a:r>
            <a:r>
              <a:rPr lang="it-IT" sz="1500" dirty="0">
                <a:solidFill>
                  <a:schemeClr val="bg1"/>
                </a:solidFill>
              </a:rPr>
              <a:t>, </a:t>
            </a:r>
            <a:r>
              <a:rPr lang="it-IT" sz="1500" dirty="0" err="1">
                <a:solidFill>
                  <a:schemeClr val="bg1"/>
                </a:solidFill>
              </a:rPr>
              <a:t>Normalization</a:t>
            </a:r>
            <a:r>
              <a:rPr lang="it-IT" sz="15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E5FA5F50-6905-FE4D-5F4C-BF90D124FD7B}"/>
              </a:ext>
            </a:extLst>
          </p:cNvPr>
          <p:cNvSpPr/>
          <p:nvPr/>
        </p:nvSpPr>
        <p:spPr>
          <a:xfrm>
            <a:off x="9616537" y="4578871"/>
            <a:ext cx="2411583" cy="1247172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500" dirty="0" err="1">
                <a:solidFill>
                  <a:schemeClr val="bg1"/>
                </a:solidFill>
              </a:rPr>
              <a:t>Distance</a:t>
            </a:r>
            <a:r>
              <a:rPr lang="it-IT" sz="1500" dirty="0">
                <a:solidFill>
                  <a:schemeClr val="bg1"/>
                </a:solidFill>
              </a:rPr>
              <a:t> Output</a:t>
            </a:r>
            <a:br>
              <a:rPr lang="it-IT" sz="1500" dirty="0">
                <a:solidFill>
                  <a:schemeClr val="bg1"/>
                </a:solidFill>
              </a:rPr>
            </a:br>
            <a:r>
              <a:rPr lang="it-IT" sz="1500" dirty="0">
                <a:solidFill>
                  <a:schemeClr val="bg1"/>
                </a:solidFill>
              </a:rPr>
              <a:t>(</a:t>
            </a:r>
            <a:r>
              <a:rPr lang="it-IT" sz="1500" dirty="0" err="1">
                <a:solidFill>
                  <a:schemeClr val="bg1"/>
                </a:solidFill>
              </a:rPr>
              <a:t>Estimated</a:t>
            </a:r>
            <a:r>
              <a:rPr lang="it-IT" sz="1500" dirty="0">
                <a:solidFill>
                  <a:schemeClr val="bg1"/>
                </a:solidFill>
              </a:rPr>
              <a:t> Cone </a:t>
            </a:r>
            <a:r>
              <a:rPr lang="it-IT" sz="1500" dirty="0" err="1">
                <a:solidFill>
                  <a:schemeClr val="bg1"/>
                </a:solidFill>
              </a:rPr>
              <a:t>Distance</a:t>
            </a:r>
            <a:r>
              <a:rPr lang="it-IT" sz="15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3" name="Sottotitolo 5">
            <a:extLst>
              <a:ext uri="{FF2B5EF4-FFF2-40B4-BE49-F238E27FC236}">
                <a16:creationId xmlns:a16="http://schemas.microsoft.com/office/drawing/2014/main" id="{3D44C1D3-2EF4-31DD-F53C-374714873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8199" y="1233281"/>
            <a:ext cx="3895602" cy="489186"/>
          </a:xfrm>
        </p:spPr>
        <p:txBody>
          <a:bodyPr>
            <a:noAutofit/>
          </a:bodyPr>
          <a:lstStyle/>
          <a:p>
            <a:r>
              <a:rPr lang="it-IT" sz="2000" b="1" dirty="0"/>
              <a:t>GENERAL SYSTEM ARCHITECTURE</a:t>
            </a:r>
          </a:p>
        </p:txBody>
      </p:sp>
      <p:sp>
        <p:nvSpPr>
          <p:cNvPr id="24" name="Freccia destra 23">
            <a:extLst>
              <a:ext uri="{FF2B5EF4-FFF2-40B4-BE49-F238E27FC236}">
                <a16:creationId xmlns:a16="http://schemas.microsoft.com/office/drawing/2014/main" id="{755DFAC2-8045-1897-46E7-DF79D2302B0B}"/>
              </a:ext>
            </a:extLst>
          </p:cNvPr>
          <p:cNvSpPr/>
          <p:nvPr/>
        </p:nvSpPr>
        <p:spPr>
          <a:xfrm>
            <a:off x="4782141" y="3755108"/>
            <a:ext cx="308384" cy="189638"/>
          </a:xfrm>
          <a:prstGeom prst="rightArrow">
            <a:avLst/>
          </a:prstGeom>
          <a:solidFill>
            <a:schemeClr val="bg1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destra 24">
            <a:extLst>
              <a:ext uri="{FF2B5EF4-FFF2-40B4-BE49-F238E27FC236}">
                <a16:creationId xmlns:a16="http://schemas.microsoft.com/office/drawing/2014/main" id="{587BC1BA-BB8E-E54C-A1BE-111B88E9DA44}"/>
              </a:ext>
            </a:extLst>
          </p:cNvPr>
          <p:cNvSpPr/>
          <p:nvPr/>
        </p:nvSpPr>
        <p:spPr>
          <a:xfrm>
            <a:off x="2363095" y="3755108"/>
            <a:ext cx="308384" cy="189638"/>
          </a:xfrm>
          <a:prstGeom prst="rightArrow">
            <a:avLst/>
          </a:prstGeom>
          <a:solidFill>
            <a:schemeClr val="bg1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destra 25">
            <a:extLst>
              <a:ext uri="{FF2B5EF4-FFF2-40B4-BE49-F238E27FC236}">
                <a16:creationId xmlns:a16="http://schemas.microsoft.com/office/drawing/2014/main" id="{E80350A9-29AD-B383-6830-C65E59C95787}"/>
              </a:ext>
            </a:extLst>
          </p:cNvPr>
          <p:cNvSpPr/>
          <p:nvPr/>
        </p:nvSpPr>
        <p:spPr>
          <a:xfrm>
            <a:off x="7849921" y="3755108"/>
            <a:ext cx="308384" cy="189638"/>
          </a:xfrm>
          <a:prstGeom prst="rightArrow">
            <a:avLst/>
          </a:prstGeom>
          <a:solidFill>
            <a:schemeClr val="bg1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curva 26">
            <a:extLst>
              <a:ext uri="{FF2B5EF4-FFF2-40B4-BE49-F238E27FC236}">
                <a16:creationId xmlns:a16="http://schemas.microsoft.com/office/drawing/2014/main" id="{C1AB45DA-B79D-B63E-C578-EF0496494F31}"/>
              </a:ext>
            </a:extLst>
          </p:cNvPr>
          <p:cNvSpPr/>
          <p:nvPr/>
        </p:nvSpPr>
        <p:spPr>
          <a:xfrm>
            <a:off x="9122979" y="2453833"/>
            <a:ext cx="493558" cy="462987"/>
          </a:xfrm>
          <a:prstGeom prst="bentArrow">
            <a:avLst/>
          </a:prstGeom>
          <a:solidFill>
            <a:schemeClr val="bg1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4" name="Freccia curva 33">
            <a:extLst>
              <a:ext uri="{FF2B5EF4-FFF2-40B4-BE49-F238E27FC236}">
                <a16:creationId xmlns:a16="http://schemas.microsoft.com/office/drawing/2014/main" id="{C8ADC152-DF7D-A8E7-1D66-9EA4918483D5}"/>
              </a:ext>
            </a:extLst>
          </p:cNvPr>
          <p:cNvSpPr/>
          <p:nvPr/>
        </p:nvSpPr>
        <p:spPr>
          <a:xfrm rot="5400000">
            <a:off x="10487437" y="3824832"/>
            <a:ext cx="493558" cy="462987"/>
          </a:xfrm>
          <a:prstGeom prst="bentArrow">
            <a:avLst/>
          </a:prstGeom>
          <a:solidFill>
            <a:schemeClr val="bg1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5AF8E932-8D37-F79C-8C94-9444205F6E24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41A20538-5FD2-E056-CF35-3D24F8DC4D56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5F9FCD65-EA8C-8444-478C-222DEF9605A1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5106494F-33CB-F420-C8EC-CD04BBDAA6E8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B78CDDD6-9C17-21A2-4C0A-E38DA5BA634A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Ovale 48">
            <a:extLst>
              <a:ext uri="{FF2B5EF4-FFF2-40B4-BE49-F238E27FC236}">
                <a16:creationId xmlns:a16="http://schemas.microsoft.com/office/drawing/2014/main" id="{4F8CD64A-0D43-B885-5F59-3D24B839E8BA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Ovale 49">
            <a:extLst>
              <a:ext uri="{FF2B5EF4-FFF2-40B4-BE49-F238E27FC236}">
                <a16:creationId xmlns:a16="http://schemas.microsoft.com/office/drawing/2014/main" id="{D9047EA6-D961-1655-7F2B-4A9FEF20B5BB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1" name="Connettore 1 50">
            <a:extLst>
              <a:ext uri="{FF2B5EF4-FFF2-40B4-BE49-F238E27FC236}">
                <a16:creationId xmlns:a16="http://schemas.microsoft.com/office/drawing/2014/main" id="{548B508C-931D-0FEA-1757-C09C6735FF5A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vale 55">
            <a:extLst>
              <a:ext uri="{FF2B5EF4-FFF2-40B4-BE49-F238E27FC236}">
                <a16:creationId xmlns:a16="http://schemas.microsoft.com/office/drawing/2014/main" id="{27C27B9D-7DA6-993F-B123-82ED181F63D3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Ovale 56">
            <a:extLst>
              <a:ext uri="{FF2B5EF4-FFF2-40B4-BE49-F238E27FC236}">
                <a16:creationId xmlns:a16="http://schemas.microsoft.com/office/drawing/2014/main" id="{32104533-BEAE-C93C-2463-3535B419B7A0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3A64B32E-9E9E-A481-5263-9DAB3DCA5378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Ovale 58">
            <a:extLst>
              <a:ext uri="{FF2B5EF4-FFF2-40B4-BE49-F238E27FC236}">
                <a16:creationId xmlns:a16="http://schemas.microsoft.com/office/drawing/2014/main" id="{EE22B1AC-4373-B471-BA9A-6368EBFF959A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050C1067-0937-E973-EE19-0F16F2653B66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B2BCC955-E50B-A326-816D-176126754B48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Ovale 61">
            <a:extLst>
              <a:ext uri="{FF2B5EF4-FFF2-40B4-BE49-F238E27FC236}">
                <a16:creationId xmlns:a16="http://schemas.microsoft.com/office/drawing/2014/main" id="{2B1CA260-4340-99BE-A881-AEF8AD3CBAAF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Ovale 62">
            <a:extLst>
              <a:ext uri="{FF2B5EF4-FFF2-40B4-BE49-F238E27FC236}">
                <a16:creationId xmlns:a16="http://schemas.microsoft.com/office/drawing/2014/main" id="{13665328-1451-D7CE-C610-5745E35025E7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Ovale 64">
            <a:extLst>
              <a:ext uri="{FF2B5EF4-FFF2-40B4-BE49-F238E27FC236}">
                <a16:creationId xmlns:a16="http://schemas.microsoft.com/office/drawing/2014/main" id="{ED9E94A4-139C-52F9-2D2A-A6786BB51ED2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Ovale 65">
            <a:extLst>
              <a:ext uri="{FF2B5EF4-FFF2-40B4-BE49-F238E27FC236}">
                <a16:creationId xmlns:a16="http://schemas.microsoft.com/office/drawing/2014/main" id="{1D8FB354-4B10-4908-65EF-6E94EAE25AD0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8135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E07A-2F8B-ADCC-C68B-EE1A0F783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8D9F85A-4776-8A96-3A73-BAED3CEE010C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82C5F91B-394B-D165-68FC-42BA32625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8D72F94-C1E7-0888-212B-BB9AA9B9EA4E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36B3C7A8-E703-9678-CD4A-AD29C5A01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583" y="1288542"/>
            <a:ext cx="2758832" cy="517695"/>
          </a:xfrm>
        </p:spPr>
        <p:txBody>
          <a:bodyPr>
            <a:noAutofit/>
          </a:bodyPr>
          <a:lstStyle/>
          <a:p>
            <a:r>
              <a:rPr lang="it-IT" sz="2000" b="1" dirty="0"/>
              <a:t>FRAME ACQUISITION</a:t>
            </a:r>
          </a:p>
        </p:txBody>
      </p:sp>
      <p:pic>
        <p:nvPicPr>
          <p:cNvPr id="8" name="Immagine 7" descr="Immagine che contiene Monoposto, macchina da corsa, Pneumatico per Formula uno, sport motoristici&#10;&#10;Il contenuto generato dall'IA potrebbe non essere corretto.">
            <a:extLst>
              <a:ext uri="{FF2B5EF4-FFF2-40B4-BE49-F238E27FC236}">
                <a16:creationId xmlns:a16="http://schemas.microsoft.com/office/drawing/2014/main" id="{59843D21-BBEA-0411-6837-47B545226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87" y="2257350"/>
            <a:ext cx="3737196" cy="2102172"/>
          </a:xfrm>
          <a:prstGeom prst="rect">
            <a:avLst/>
          </a:prstGeom>
        </p:spPr>
      </p:pic>
      <p:pic>
        <p:nvPicPr>
          <p:cNvPr id="10" name="Immagine 9" descr="Immagine che contiene giocattolo, rosso&#10;&#10;Il contenuto generato dall'IA potrebbe non essere corretto.">
            <a:extLst>
              <a:ext uri="{FF2B5EF4-FFF2-40B4-BE49-F238E27FC236}">
                <a16:creationId xmlns:a16="http://schemas.microsoft.com/office/drawing/2014/main" id="{673A5A7C-375B-0C63-38BE-08A916ECEE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076"/>
          <a:stretch>
            <a:fillRect/>
          </a:stretch>
        </p:blipFill>
        <p:spPr>
          <a:xfrm>
            <a:off x="7812116" y="2257350"/>
            <a:ext cx="3737196" cy="2102172"/>
          </a:xfrm>
          <a:prstGeom prst="rect">
            <a:avLst/>
          </a:prstGeom>
        </p:spPr>
      </p:pic>
      <p:pic>
        <p:nvPicPr>
          <p:cNvPr id="13" name="Immagine 12" descr="Immagine che contiene aria aperta, strada, sport motoristici, veicolo&#10;&#10;Il contenuto generato dall'IA potrebbe non essere corretto.">
            <a:extLst>
              <a:ext uri="{FF2B5EF4-FFF2-40B4-BE49-F238E27FC236}">
                <a16:creationId xmlns:a16="http://schemas.microsoft.com/office/drawing/2014/main" id="{0D10BBDC-DC55-77D6-2D99-F1FC7ACCD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414" y="3788020"/>
            <a:ext cx="3239171" cy="2159447"/>
          </a:xfrm>
          <a:prstGeom prst="rect">
            <a:avLst/>
          </a:prstGeom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94ACCE08-117A-A283-8194-2673C0F7DEC3}"/>
              </a:ext>
            </a:extLst>
          </p:cNvPr>
          <p:cNvSpPr/>
          <p:nvPr/>
        </p:nvSpPr>
        <p:spPr>
          <a:xfrm>
            <a:off x="2768600" y="2330450"/>
            <a:ext cx="311150" cy="3175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DE4EEA21-9B15-F39B-C5EB-EFFEC14E2AE3}"/>
              </a:ext>
            </a:extLst>
          </p:cNvPr>
          <p:cNvSpPr/>
          <p:nvPr/>
        </p:nvSpPr>
        <p:spPr>
          <a:xfrm>
            <a:off x="9965339" y="3490614"/>
            <a:ext cx="692150" cy="594811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7310547-66F8-17A6-F0C5-7CBDE0F42B21}"/>
              </a:ext>
            </a:extLst>
          </p:cNvPr>
          <p:cNvSpPr txBox="1"/>
          <p:nvPr/>
        </p:nvSpPr>
        <p:spPr>
          <a:xfrm>
            <a:off x="563526" y="4861107"/>
            <a:ext cx="3959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With just a </a:t>
            </a:r>
            <a:r>
              <a:rPr lang="it-IT" sz="1600" dirty="0" err="1"/>
              <a:t>monocular</a:t>
            </a:r>
            <a:r>
              <a:rPr lang="it-IT" sz="1600" dirty="0"/>
              <a:t> camera </a:t>
            </a:r>
            <a:r>
              <a:rPr lang="it-IT" sz="1600" dirty="0" err="1"/>
              <a:t>located</a:t>
            </a:r>
            <a:r>
              <a:rPr lang="it-IT" sz="1600" dirty="0"/>
              <a:t> in the </a:t>
            </a:r>
            <a:r>
              <a:rPr lang="it-IT" sz="1600" u="sng" dirty="0" err="1"/>
              <a:t>fixed</a:t>
            </a:r>
            <a:r>
              <a:rPr lang="it-IT" sz="1600" u="sng" dirty="0"/>
              <a:t> points</a:t>
            </a:r>
            <a:r>
              <a:rPr lang="it-IT" sz="1600" dirty="0"/>
              <a:t> of the car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ABB16D07-FC58-633E-B2F8-41C96584354B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5ACEABDA-810B-7F6C-F254-95A18DEF261F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74820624-D4FF-2CCD-B38C-0CD7CBDFB6DF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2E4613C8-9722-E89D-EB0A-0BF74530E80E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81457668-7133-5FFA-5841-ECACEAD513E9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6D2A9118-A292-70C7-5C24-8F1290940B71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A195AF1F-F368-2089-2475-99B0C09F93CE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583765EF-8DE6-A569-4E82-9E4F761E2EC8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Ovale 24">
            <a:extLst>
              <a:ext uri="{FF2B5EF4-FFF2-40B4-BE49-F238E27FC236}">
                <a16:creationId xmlns:a16="http://schemas.microsoft.com/office/drawing/2014/main" id="{B948F43D-B312-3161-DDE9-9C7045381439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04D1491A-8E5A-0431-1456-BD67FB6F7F25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237E1493-B0D2-F474-BF9A-8BAC9DC37D13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0FA8A997-B2AC-34B6-CB61-6C9615358111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A79A4ED8-001C-FBC9-1C04-EDFB2984F65E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A5DD5CC6-646B-A924-BA69-A76BBD7A94DB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CAB54562-0275-F800-A675-BC6A3A9176E3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57BF986E-ADCE-A1A1-6C31-1697E7E305E1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B2D979A9-948F-C376-8B5D-BE765A7AEC16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35876838-0418-22ED-B2D4-34C4A84B551F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0020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AE029-40EC-5900-166D-D5932001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84ED5FA-C94A-BDBD-FD64-E8D4FFC4E7D9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3865FCB1-72AB-B37D-8A0A-6F598F42A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32C1B6-10A3-6748-760B-D224D418BA16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E25DF341-5C2F-DD7A-F555-F88006239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4280" y="1298072"/>
            <a:ext cx="1903440" cy="350105"/>
          </a:xfrm>
        </p:spPr>
        <p:txBody>
          <a:bodyPr>
            <a:normAutofit lnSpcReduction="10000"/>
          </a:bodyPr>
          <a:lstStyle/>
          <a:p>
            <a:r>
              <a:rPr lang="it-IT" sz="2000" b="1" dirty="0"/>
              <a:t>DATASET</a:t>
            </a:r>
          </a:p>
        </p:txBody>
      </p:sp>
      <p:pic>
        <p:nvPicPr>
          <p:cNvPr id="8" name="Immagine 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E3A8B2C7-1C5A-9873-046C-DE0B544FB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817" y="1743137"/>
            <a:ext cx="2716366" cy="4362483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744CF3CE-3F73-B47E-99E5-9A5C603883AD}"/>
              </a:ext>
            </a:extLst>
          </p:cNvPr>
          <p:cNvSpPr/>
          <p:nvPr/>
        </p:nvSpPr>
        <p:spPr>
          <a:xfrm>
            <a:off x="5486400" y="2366356"/>
            <a:ext cx="1561320" cy="121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8BED4B8-E817-8425-9968-4F5F8CA29519}"/>
              </a:ext>
            </a:extLst>
          </p:cNvPr>
          <p:cNvSpPr txBox="1"/>
          <p:nvPr/>
        </p:nvSpPr>
        <p:spPr>
          <a:xfrm>
            <a:off x="2085928" y="3046073"/>
            <a:ext cx="699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/>
              <a:t>ConeId</a:t>
            </a:r>
            <a:endParaRPr lang="it-IT" sz="1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50FD480-F2D2-660F-1EF8-1529A315B153}"/>
              </a:ext>
            </a:extLst>
          </p:cNvPr>
          <p:cNvSpPr txBox="1"/>
          <p:nvPr/>
        </p:nvSpPr>
        <p:spPr>
          <a:xfrm>
            <a:off x="2843305" y="3919548"/>
            <a:ext cx="263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0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9BE2638-547A-6312-9135-6A2C8B92C1A3}"/>
              </a:ext>
            </a:extLst>
          </p:cNvPr>
          <p:cNvSpPr txBox="1"/>
          <p:nvPr/>
        </p:nvSpPr>
        <p:spPr>
          <a:xfrm>
            <a:off x="3931898" y="3919549"/>
            <a:ext cx="263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6CF9179-2095-65F3-5048-85F871115332}"/>
              </a:ext>
            </a:extLst>
          </p:cNvPr>
          <p:cNvSpPr txBox="1"/>
          <p:nvPr/>
        </p:nvSpPr>
        <p:spPr>
          <a:xfrm>
            <a:off x="1757775" y="3919550"/>
            <a:ext cx="263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2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5089040-DEB9-AF9A-3EFB-90424A21B0FA}"/>
              </a:ext>
            </a:extLst>
          </p:cNvPr>
          <p:cNvSpPr txBox="1"/>
          <p:nvPr/>
        </p:nvSpPr>
        <p:spPr>
          <a:xfrm>
            <a:off x="675747" y="3919550"/>
            <a:ext cx="263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3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6C43C640-494C-8D3B-4E15-B29DD957B639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2435543" y="3353850"/>
            <a:ext cx="539416" cy="565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09110860-6DEE-BCD9-34D8-B7A81EB827F4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2435543" y="3353850"/>
            <a:ext cx="1628009" cy="565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97916DDD-7B85-C470-5510-C608E522074F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flipH="1">
            <a:off x="1889429" y="3353850"/>
            <a:ext cx="546114" cy="565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14A5674B-FD86-5EDE-20D0-6C8981B27C12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 flipH="1">
            <a:off x="807401" y="3353850"/>
            <a:ext cx="1628142" cy="565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9" name="Immagine 58" descr="Immagine che contiene copricapo, cappello, cono&#10;&#10;Il contenuto generato dall'IA potrebbe non essere corretto.">
            <a:extLst>
              <a:ext uri="{FF2B5EF4-FFF2-40B4-BE49-F238E27FC236}">
                <a16:creationId xmlns:a16="http://schemas.microsoft.com/office/drawing/2014/main" id="{523CAA44-ABA6-05A3-BEF5-E932D5923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457" y="4245559"/>
            <a:ext cx="520759" cy="520759"/>
          </a:xfrm>
          <a:prstGeom prst="rect">
            <a:avLst/>
          </a:prstGeom>
        </p:spPr>
      </p:pic>
      <p:sp>
        <p:nvSpPr>
          <p:cNvPr id="62" name="Rettangolo 61">
            <a:extLst>
              <a:ext uri="{FF2B5EF4-FFF2-40B4-BE49-F238E27FC236}">
                <a16:creationId xmlns:a16="http://schemas.microsoft.com/office/drawing/2014/main" id="{3092C76E-86C2-AA57-7E25-D3BE25F75DF4}"/>
              </a:ext>
            </a:extLst>
          </p:cNvPr>
          <p:cNvSpPr/>
          <p:nvPr/>
        </p:nvSpPr>
        <p:spPr>
          <a:xfrm>
            <a:off x="9756457" y="4245559"/>
            <a:ext cx="520759" cy="52075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8" name="Input penna 67">
                <a:extLst>
                  <a:ext uri="{FF2B5EF4-FFF2-40B4-BE49-F238E27FC236}">
                    <a16:creationId xmlns:a16="http://schemas.microsoft.com/office/drawing/2014/main" id="{B81E3D80-C392-CAC8-4B9E-15A71819F79F}"/>
                  </a:ext>
                </a:extLst>
              </p14:cNvPr>
              <p14:cNvContentPartPr/>
              <p14:nvPr/>
            </p14:nvContentPartPr>
            <p14:xfrm>
              <a:off x="9759513" y="4252430"/>
              <a:ext cx="360" cy="360"/>
            </p14:xfrm>
          </p:contentPart>
        </mc:Choice>
        <mc:Fallback xmlns="">
          <p:pic>
            <p:nvPicPr>
              <p:cNvPr id="68" name="Input penna 67">
                <a:extLst>
                  <a:ext uri="{FF2B5EF4-FFF2-40B4-BE49-F238E27FC236}">
                    <a16:creationId xmlns:a16="http://schemas.microsoft.com/office/drawing/2014/main" id="{B81E3D80-C392-CAC8-4B9E-15A71819F7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41873" y="4234790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81E7FC6A-CAD7-4BB2-3298-CA4B879AEE43}"/>
              </a:ext>
            </a:extLst>
          </p:cNvPr>
          <p:cNvSpPr txBox="1"/>
          <p:nvPr/>
        </p:nvSpPr>
        <p:spPr>
          <a:xfrm>
            <a:off x="9739436" y="3950328"/>
            <a:ext cx="5036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dirty="0">
                <a:highlight>
                  <a:srgbClr val="FFFF00"/>
                </a:highlight>
              </a:rPr>
              <a:t>BB_W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6FFA7B7F-53D6-2A2F-CDB2-D52671ECF718}"/>
              </a:ext>
            </a:extLst>
          </p:cNvPr>
          <p:cNvSpPr txBox="1"/>
          <p:nvPr/>
        </p:nvSpPr>
        <p:spPr>
          <a:xfrm>
            <a:off x="10355703" y="4380125"/>
            <a:ext cx="5200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highlight>
                  <a:srgbClr val="FFFF00"/>
                </a:highlight>
              </a:rPr>
              <a:t>BB_H</a:t>
            </a:r>
          </a:p>
        </p:txBody>
      </p:sp>
      <p:cxnSp>
        <p:nvCxnSpPr>
          <p:cNvPr id="74" name="Connettore 2 73">
            <a:extLst>
              <a:ext uri="{FF2B5EF4-FFF2-40B4-BE49-F238E27FC236}">
                <a16:creationId xmlns:a16="http://schemas.microsoft.com/office/drawing/2014/main" id="{3CAF21AA-C8BF-7F0A-C83D-71B94D8282A8}"/>
              </a:ext>
            </a:extLst>
          </p:cNvPr>
          <p:cNvCxnSpPr>
            <a:cxnSpLocks/>
          </p:cNvCxnSpPr>
          <p:nvPr/>
        </p:nvCxnSpPr>
        <p:spPr>
          <a:xfrm flipH="1">
            <a:off x="9754646" y="3446183"/>
            <a:ext cx="1810" cy="77487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Connettore 2 76">
            <a:extLst>
              <a:ext uri="{FF2B5EF4-FFF2-40B4-BE49-F238E27FC236}">
                <a16:creationId xmlns:a16="http://schemas.microsoft.com/office/drawing/2014/main" id="{108F36B8-73DA-5DB5-4F7F-B4E30F7DCBDF}"/>
              </a:ext>
            </a:extLst>
          </p:cNvPr>
          <p:cNvCxnSpPr>
            <a:cxnSpLocks/>
          </p:cNvCxnSpPr>
          <p:nvPr/>
        </p:nvCxnSpPr>
        <p:spPr>
          <a:xfrm>
            <a:off x="8971614" y="4252430"/>
            <a:ext cx="74266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21466768-612A-375B-F577-79D818E2A7C3}"/>
              </a:ext>
            </a:extLst>
          </p:cNvPr>
          <p:cNvSpPr txBox="1"/>
          <p:nvPr/>
        </p:nvSpPr>
        <p:spPr>
          <a:xfrm>
            <a:off x="8460345" y="4122448"/>
            <a:ext cx="457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dirty="0">
                <a:highlight>
                  <a:srgbClr val="FFFF00"/>
                </a:highlight>
              </a:rPr>
              <a:t>BB_X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92B6C7F9-66D7-9616-1275-EC75B6DAA7ED}"/>
              </a:ext>
            </a:extLst>
          </p:cNvPr>
          <p:cNvSpPr txBox="1"/>
          <p:nvPr/>
        </p:nvSpPr>
        <p:spPr>
          <a:xfrm>
            <a:off x="9487604" y="3199962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000" dirty="0">
                <a:highlight>
                  <a:srgbClr val="FFFF00"/>
                </a:highlight>
              </a:rPr>
              <a:t>BB_Y</a:t>
            </a:r>
          </a:p>
        </p:txBody>
      </p:sp>
      <p:pic>
        <p:nvPicPr>
          <p:cNvPr id="5" name="Immagine 4" descr="Immagine che contiene testo, schermata&#10;&#10;Il contenuto generato dall'IA potrebbe non essere corretto.">
            <a:extLst>
              <a:ext uri="{FF2B5EF4-FFF2-40B4-BE49-F238E27FC236}">
                <a16:creationId xmlns:a16="http://schemas.microsoft.com/office/drawing/2014/main" id="{0029C281-74F2-7CFF-815D-E8584EC5879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562" t="30705" r="15366" b="30299"/>
          <a:stretch>
            <a:fillRect/>
          </a:stretch>
        </p:blipFill>
        <p:spPr>
          <a:xfrm>
            <a:off x="156053" y="4227225"/>
            <a:ext cx="4562601" cy="1481274"/>
          </a:xfrm>
          <a:prstGeom prst="rect">
            <a:avLst/>
          </a:prstGeom>
        </p:spPr>
      </p:pic>
      <p:sp>
        <p:nvSpPr>
          <p:cNvPr id="46" name="Ovale 45">
            <a:extLst>
              <a:ext uri="{FF2B5EF4-FFF2-40B4-BE49-F238E27FC236}">
                <a16:creationId xmlns:a16="http://schemas.microsoft.com/office/drawing/2014/main" id="{EF160228-BA30-F500-D400-D2FF8D72EDCD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8294BAC9-7B3C-984B-F942-72FA11EC5C20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40478093-A515-4AA5-D126-D28C84DAF2EA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Ovale 52">
            <a:extLst>
              <a:ext uri="{FF2B5EF4-FFF2-40B4-BE49-F238E27FC236}">
                <a16:creationId xmlns:a16="http://schemas.microsoft.com/office/drawing/2014/main" id="{D6A5F10B-5BE8-C0EF-FCCA-935A8F5EA7C7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Ovale 53">
            <a:extLst>
              <a:ext uri="{FF2B5EF4-FFF2-40B4-BE49-F238E27FC236}">
                <a16:creationId xmlns:a16="http://schemas.microsoft.com/office/drawing/2014/main" id="{1A3EC7A5-425A-1B05-536C-EAC8C1B3C8DC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Ovale 54">
            <a:extLst>
              <a:ext uri="{FF2B5EF4-FFF2-40B4-BE49-F238E27FC236}">
                <a16:creationId xmlns:a16="http://schemas.microsoft.com/office/drawing/2014/main" id="{08AE0D01-1E3C-9D8E-ADF3-465411CBACB0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EDB593FF-FB3D-8040-650E-A490EDAF3FB5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1" name="Connettore 1 60">
            <a:extLst>
              <a:ext uri="{FF2B5EF4-FFF2-40B4-BE49-F238E27FC236}">
                <a16:creationId xmlns:a16="http://schemas.microsoft.com/office/drawing/2014/main" id="{808366C8-CCD1-7DD4-5B15-26C0D57D5930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Ovale 62">
            <a:extLst>
              <a:ext uri="{FF2B5EF4-FFF2-40B4-BE49-F238E27FC236}">
                <a16:creationId xmlns:a16="http://schemas.microsoft.com/office/drawing/2014/main" id="{70C4255A-54FB-A01A-A7F0-D5D9B19E10BF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EB7A55F5-32D2-C28E-1986-0B89EE6F3245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Ovale 64">
            <a:extLst>
              <a:ext uri="{FF2B5EF4-FFF2-40B4-BE49-F238E27FC236}">
                <a16:creationId xmlns:a16="http://schemas.microsoft.com/office/drawing/2014/main" id="{6BF06D1C-E8FA-8D52-8DB1-304BA1BF872B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Ovale 65">
            <a:extLst>
              <a:ext uri="{FF2B5EF4-FFF2-40B4-BE49-F238E27FC236}">
                <a16:creationId xmlns:a16="http://schemas.microsoft.com/office/drawing/2014/main" id="{3E589907-E51B-A9C5-3F7B-309F1192D27B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52DA1F74-C1A9-FA3D-52AE-1A733E3A0606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79C68079-6578-1E27-74CF-85F2384CD6AE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2" name="Ovale 71">
            <a:extLst>
              <a:ext uri="{FF2B5EF4-FFF2-40B4-BE49-F238E27FC236}">
                <a16:creationId xmlns:a16="http://schemas.microsoft.com/office/drawing/2014/main" id="{CC54A294-0E40-0408-B5E8-3128C26C37BC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B7A67CEF-0852-BEFE-CB63-50A86B9E639B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12B58E27-106B-DB0B-B656-DF16B9FF15E7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A998F28B-3A5E-FC40-6E3D-E626009110C1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Parentesi graffa chiusa 2">
            <a:extLst>
              <a:ext uri="{FF2B5EF4-FFF2-40B4-BE49-F238E27FC236}">
                <a16:creationId xmlns:a16="http://schemas.microsoft.com/office/drawing/2014/main" id="{214AB8BA-29DE-BB48-A5A8-CA79FF8C49DB}"/>
              </a:ext>
            </a:extLst>
          </p:cNvPr>
          <p:cNvSpPr/>
          <p:nvPr/>
        </p:nvSpPr>
        <p:spPr>
          <a:xfrm rot="5400000">
            <a:off x="2748709" y="4569655"/>
            <a:ext cx="335130" cy="255786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0DDBA6D9-6271-6779-DC01-388982F9C32C}"/>
              </a:ext>
            </a:extLst>
          </p:cNvPr>
          <p:cNvSpPr/>
          <p:nvPr/>
        </p:nvSpPr>
        <p:spPr>
          <a:xfrm rot="5400000">
            <a:off x="673151" y="5144761"/>
            <a:ext cx="284538" cy="135705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B74074-60A4-C13F-B000-84258459896B}"/>
              </a:ext>
            </a:extLst>
          </p:cNvPr>
          <p:cNvSpPr txBox="1"/>
          <p:nvPr/>
        </p:nvSpPr>
        <p:spPr>
          <a:xfrm>
            <a:off x="664577" y="59357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C45DA79-ADFA-09B5-1753-74A3D5DCADA1}"/>
              </a:ext>
            </a:extLst>
          </p:cNvPr>
          <p:cNvSpPr txBox="1"/>
          <p:nvPr/>
        </p:nvSpPr>
        <p:spPr>
          <a:xfrm>
            <a:off x="2765431" y="59357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14890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6A13-0032-D5B9-FB3E-EF1FE55BB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9705C65-2E50-E7A6-5090-5720A1B0D5BA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B7127BCF-8460-A56C-5EA5-C3FD81961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CC9873-E191-3906-2082-B7800790BE41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DB70C0E8-F6CB-DD62-5420-E918F435CC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9516" y="1326450"/>
            <a:ext cx="1532967" cy="369442"/>
          </a:xfrm>
        </p:spPr>
        <p:txBody>
          <a:bodyPr>
            <a:normAutofit/>
          </a:bodyPr>
          <a:lstStyle/>
          <a:p>
            <a:r>
              <a:rPr lang="it-IT" sz="2000" b="1" dirty="0"/>
              <a:t>DATASET</a:t>
            </a:r>
          </a:p>
        </p:txBody>
      </p:sp>
      <p:pic>
        <p:nvPicPr>
          <p:cNvPr id="5" name="Immagine 4" descr="Immagine che contiene software, Software multimediale, Software per la grafica, Modifica&#10;&#10;Il contenuto generato dall'IA potrebbe non essere corretto.">
            <a:extLst>
              <a:ext uri="{FF2B5EF4-FFF2-40B4-BE49-F238E27FC236}">
                <a16:creationId xmlns:a16="http://schemas.microsoft.com/office/drawing/2014/main" id="{2C934018-8BD1-88DE-F661-155314B059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640" r="62899"/>
          <a:stretch>
            <a:fillRect/>
          </a:stretch>
        </p:blipFill>
        <p:spPr>
          <a:xfrm>
            <a:off x="7113181" y="2017909"/>
            <a:ext cx="4313073" cy="3513641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C9C7928A-0008-5297-C29C-9BF4C58DE348}"/>
              </a:ext>
            </a:extLst>
          </p:cNvPr>
          <p:cNvSpPr/>
          <p:nvPr/>
        </p:nvSpPr>
        <p:spPr>
          <a:xfrm>
            <a:off x="7676852" y="4509975"/>
            <a:ext cx="648440" cy="1364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 descr="Immagine che contiene testo, schermata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5429BF2-8694-762A-9EE9-3D48CF1E5C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825" t="17699" r="16987" b="28238"/>
          <a:stretch>
            <a:fillRect/>
          </a:stretch>
        </p:blipFill>
        <p:spPr>
          <a:xfrm>
            <a:off x="313593" y="1955604"/>
            <a:ext cx="5628919" cy="3575946"/>
          </a:xfrm>
          <a:prstGeom prst="rect">
            <a:avLst/>
          </a:prstGeom>
        </p:spPr>
      </p:pic>
      <p:sp>
        <p:nvSpPr>
          <p:cNvPr id="11" name="Ovale 10">
            <a:extLst>
              <a:ext uri="{FF2B5EF4-FFF2-40B4-BE49-F238E27FC236}">
                <a16:creationId xmlns:a16="http://schemas.microsoft.com/office/drawing/2014/main" id="{FC89A3F8-B9F3-1044-297E-9CBE6327CDE5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46127AC1-6677-B4A4-C90B-A8D2A783EBFE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41F5A881-315B-3187-EC60-2B73AEA35056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4FBBBEE-A9F8-4157-A502-09139B47F1C2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50100EE6-54B6-D67C-5722-98D4B7DA3405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1E7F3622-0686-47AC-14DA-7C9CB579C027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C1595EE3-5E13-61EC-6AFC-9E832D60D123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59B26986-4A52-4B09-494E-9FFF3093E106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Ovale 23">
            <a:extLst>
              <a:ext uri="{FF2B5EF4-FFF2-40B4-BE49-F238E27FC236}">
                <a16:creationId xmlns:a16="http://schemas.microsoft.com/office/drawing/2014/main" id="{38FB632B-9BC2-E0E7-FD4D-011F3CA7A325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D55AA0AD-F029-F74F-ADEA-5BBE04F868B0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E18DA3D9-D6A1-BEC5-225F-87E5C41CA499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D8743F4E-F7C8-DF54-F6C7-81DB8BCA39AE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652709B2-8CB1-A05F-0304-FDE5828BFD17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8843CD9C-BFA8-F91E-A70C-BDABD7CEDEE2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DF3D4E89-7CE2-C767-33BA-077041732991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674AD229-A201-4536-A598-6BCE36D8ABED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7AE509C5-A8D9-2584-033F-AFF1E7C95422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290FCE82-F80A-B3FD-C145-555EF0722D68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1464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63E3B-10A7-94C2-1D95-40AF2E22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BFF56FE-A169-860C-A299-728977D88169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3885FE95-BAD9-99A2-FBEB-497AC0727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90742ADC-DB1E-AF8B-D5EB-BB9EE879946D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79D6F54C-524A-0EC1-26C2-56FA7A400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9889" y="1291447"/>
            <a:ext cx="2672222" cy="358810"/>
          </a:xfrm>
        </p:spPr>
        <p:txBody>
          <a:bodyPr>
            <a:normAutofit lnSpcReduction="10000"/>
          </a:bodyPr>
          <a:lstStyle/>
          <a:p>
            <a:r>
              <a:rPr lang="it-IT" sz="2000" b="1" dirty="0"/>
              <a:t>DATA PREPROCESSING</a:t>
            </a:r>
          </a:p>
        </p:txBody>
      </p:sp>
      <p:graphicFrame>
        <p:nvGraphicFramePr>
          <p:cNvPr id="9" name="Grafico 8">
            <a:extLst>
              <a:ext uri="{FF2B5EF4-FFF2-40B4-BE49-F238E27FC236}">
                <a16:creationId xmlns:a16="http://schemas.microsoft.com/office/drawing/2014/main" id="{8DB79291-66F8-46B1-9577-AEB5801D83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068199"/>
              </p:ext>
            </p:extLst>
          </p:nvPr>
        </p:nvGraphicFramePr>
        <p:xfrm>
          <a:off x="7113181" y="2100872"/>
          <a:ext cx="4863246" cy="3542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701F6968-8BCC-64E3-8D92-C66849024E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1302091"/>
              </p:ext>
            </p:extLst>
          </p:nvPr>
        </p:nvGraphicFramePr>
        <p:xfrm>
          <a:off x="125229" y="2100872"/>
          <a:ext cx="4953591" cy="3542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A9F44F8-678B-DC68-1B87-5BC8CB71EAF7}"/>
              </a:ext>
            </a:extLst>
          </p:cNvPr>
          <p:cNvSpPr txBox="1"/>
          <p:nvPr/>
        </p:nvSpPr>
        <p:spPr>
          <a:xfrm>
            <a:off x="4369327" y="3502699"/>
            <a:ext cx="33541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During</a:t>
            </a:r>
            <a:r>
              <a:rPr lang="it-IT" sz="1400" dirty="0"/>
              <a:t> training, </a:t>
            </a:r>
            <a:r>
              <a:rPr lang="it-IT" sz="1400" dirty="0" err="1"/>
              <a:t>validation_split</a:t>
            </a:r>
            <a:r>
              <a:rPr lang="it-IT" sz="1400" dirty="0"/>
              <a:t>=0.2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used</a:t>
            </a:r>
            <a:r>
              <a:rPr lang="it-IT" sz="1400" dirty="0"/>
              <a:t>, so 20% of the training set </a:t>
            </a:r>
            <a:r>
              <a:rPr lang="it-IT" sz="1400" dirty="0" err="1"/>
              <a:t>becomes</a:t>
            </a:r>
            <a:r>
              <a:rPr lang="it-IT" sz="1400" dirty="0"/>
              <a:t> </a:t>
            </a:r>
            <a:r>
              <a:rPr lang="it-IT" sz="1400" dirty="0" err="1"/>
              <a:t>validation</a:t>
            </a:r>
            <a:r>
              <a:rPr lang="it-IT" sz="1400" dirty="0"/>
              <a:t>.</a:t>
            </a: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9F3708FC-79A3-FDB7-DA72-A98E50AB311D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17BCCEFA-13D9-DEBB-B93A-E8F0C74540A8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5091A634-4516-81B0-7AB1-E8C6DAD676A7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D6BD3E70-5855-D32C-D58C-59E1C3E55BD2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EB6605B4-9435-D43E-D9FF-635DD8040DB0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6F79A4A2-E9C5-8FC9-0F55-5D52AF81C461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82B54BB2-92DE-6A3D-E366-909FD132E64C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5" name="Connettore 1 24">
            <a:extLst>
              <a:ext uri="{FF2B5EF4-FFF2-40B4-BE49-F238E27FC236}">
                <a16:creationId xmlns:a16="http://schemas.microsoft.com/office/drawing/2014/main" id="{96B55771-C67A-5602-A727-4117EA19D167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Ovale 25">
            <a:extLst>
              <a:ext uri="{FF2B5EF4-FFF2-40B4-BE49-F238E27FC236}">
                <a16:creationId xmlns:a16="http://schemas.microsoft.com/office/drawing/2014/main" id="{46D42530-3588-CF05-C84B-6CCD4FD85F5F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35E99E10-F3FD-DDD5-A3E9-59EB838034C3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FA704DE2-664C-76AE-4873-0773F626EAAA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DDD864EE-B9BB-ABE4-C305-1CC318D2B5B8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71A55F3E-C426-4DAA-E515-6CF06B33119C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D22A44C3-2B8C-39BD-0F4A-36B7073AFEF9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B31D4D86-2096-B8F9-56D4-5534A5277DAB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F18ACD30-2D81-97F6-4015-E8E5F7C41722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C7DFE2AD-73C7-C98C-DB09-B813A9E46133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E3B320A-9C24-F107-B23D-B7755A01A353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8180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854A2-5D58-82D6-7316-A0B8AF9E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0F3D6A9-4406-E776-356D-5FA5698871CA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F4335138-0607-58D2-1098-5EBF62848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F9E47D-6B0D-ACCB-2D4C-258220A598FD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C56DA88E-1A79-B3DB-021F-61AFD07F9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9769" y="1283928"/>
            <a:ext cx="4001292" cy="346972"/>
          </a:xfrm>
        </p:spPr>
        <p:txBody>
          <a:bodyPr>
            <a:noAutofit/>
          </a:bodyPr>
          <a:lstStyle/>
          <a:p>
            <a:r>
              <a:rPr lang="it-IT" sz="2000" b="1" dirty="0"/>
              <a:t>NEURAL NETWORK ARCHITECTURE</a:t>
            </a:r>
          </a:p>
        </p:txBody>
      </p:sp>
      <p:pic>
        <p:nvPicPr>
          <p:cNvPr id="14" name="Immagine 13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E9DA6EDD-7AFC-36DF-F28C-A956FE5889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971" t="24332" b="25095"/>
          <a:stretch>
            <a:fillRect/>
          </a:stretch>
        </p:blipFill>
        <p:spPr>
          <a:xfrm>
            <a:off x="226924" y="1732504"/>
            <a:ext cx="11726983" cy="4369983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3ECE7707-96FD-8810-290E-44C1F7A1F7A5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C6D6C989-C873-5C04-34CF-BC82BB472129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A3EB1E30-3B29-3E0E-D87E-A146708A8493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9B5A3167-8BAC-A21B-248A-69322FEAF6B9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84638DC9-F359-6DA0-9604-47F1C3D8E1E9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2FA3A1D2-D902-3111-9600-B829ACD4DF74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A794EE1B-0B69-B2CD-11A4-29A541412B62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7" name="Connettore 1 26">
            <a:extLst>
              <a:ext uri="{FF2B5EF4-FFF2-40B4-BE49-F238E27FC236}">
                <a16:creationId xmlns:a16="http://schemas.microsoft.com/office/drawing/2014/main" id="{D4B704D3-5BF0-9BA9-09ED-0F99808429A7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Ovale 28">
            <a:extLst>
              <a:ext uri="{FF2B5EF4-FFF2-40B4-BE49-F238E27FC236}">
                <a16:creationId xmlns:a16="http://schemas.microsoft.com/office/drawing/2014/main" id="{FF39C568-8A1A-C185-61CA-2827FDA6660E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AF793B76-33F2-EFB9-EA92-134CF83E21AF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F0BED50F-9FC0-0BF1-D7E1-5DC27A663D85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B60BE938-2F5A-48CF-4656-26BD706659D6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6DC13815-42F9-DA4D-0E85-1179A64C856A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FEB45236-149D-2EB4-8F3B-CADD348E0BCA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37FAF728-98ED-C811-E407-E60E0C53080A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B218BE72-606B-645C-3939-DAF79A93AEF0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C6CA7CAB-CFDC-8A53-AE14-46B40D5FB58F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715EAE08-4B98-666E-8D92-9D167158139A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8004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3B609-00C8-41BE-5D1F-21FB192F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2198689-FB3E-6616-8605-CA1659AA2A36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943109FF-6311-BA41-CC17-263510A72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B2FBB30-30F1-1915-C78A-4D014D8D878B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FA5A8792-F24E-5DBF-E5A0-1256924EE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4051" y="1296731"/>
            <a:ext cx="3203898" cy="370068"/>
          </a:xfrm>
        </p:spPr>
        <p:txBody>
          <a:bodyPr>
            <a:noAutofit/>
          </a:bodyPr>
          <a:lstStyle/>
          <a:p>
            <a:r>
              <a:rPr lang="it-IT" sz="2000" b="1" dirty="0"/>
              <a:t>IMPLEMENTATION DETAILS</a:t>
            </a:r>
          </a:p>
        </p:txBody>
      </p:sp>
      <p:pic>
        <p:nvPicPr>
          <p:cNvPr id="8" name="Immagine 7" descr="Immagine che contiene testo, schermata, numero, ricevuta&#10;&#10;Il contenuto generato dall'IA potrebbe non essere corretto.">
            <a:extLst>
              <a:ext uri="{FF2B5EF4-FFF2-40B4-BE49-F238E27FC236}">
                <a16:creationId xmlns:a16="http://schemas.microsoft.com/office/drawing/2014/main" id="{BFE1162D-07C3-8816-92F8-4B3C4BE49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60" y="1761756"/>
            <a:ext cx="11035080" cy="3807425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82C42CCD-9C55-8CE9-23E3-B91AE767929A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85DFC40C-C086-BCD1-05B1-A84742C3D101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93A1F428-4F27-F047-E64A-435F2D587580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05BF74F7-139A-1A0E-D013-F0FF8B4380A1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0AACD1FF-255F-2A1B-5C02-9C342AA581CB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5E24A006-8E14-9842-3DD5-85522A7B270F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A330A422-9325-1D94-86E4-621698804D70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76E5AE99-7C80-9B79-37C9-EF266A252590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Ovale 21">
            <a:extLst>
              <a:ext uri="{FF2B5EF4-FFF2-40B4-BE49-F238E27FC236}">
                <a16:creationId xmlns:a16="http://schemas.microsoft.com/office/drawing/2014/main" id="{DB473A94-D180-5617-BC0D-F7C3D5386C01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C6DFF064-D54F-1B77-E707-2F98F7046382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8F631C8C-A6A8-C980-DA8C-3E47DB8F4483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DB44C0CB-AC77-B0A5-0314-5BD3BB4A3722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45038873-3413-EF75-EEEB-A5F8FCB683B8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E8176C1C-A72C-53E7-9FC9-B2057523C82F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FEB69138-44AC-434F-4CAE-429238509174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7E8B3162-3B15-F77A-67FA-73973D512382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CFEEBAF7-F694-166A-5062-A66B8EC91A52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5156FA63-4A72-FB04-175D-A49662D60841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54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3CB99-F460-C4FF-1A9F-B6F8F5B1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E7C4D81-EFA4-A2D5-7751-ECDA82D07560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CAE0252E-4FAD-9A86-266C-3F6ACF73F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3C62FAA-50E4-796A-64A9-144126AFB72C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A895D325-1C78-2E58-73D4-FE3ADDDD5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1725" y="1221572"/>
            <a:ext cx="2788550" cy="316279"/>
          </a:xfrm>
        </p:spPr>
        <p:txBody>
          <a:bodyPr>
            <a:normAutofit fontScale="92500" lnSpcReduction="20000"/>
          </a:bodyPr>
          <a:lstStyle/>
          <a:p>
            <a:r>
              <a:rPr lang="it-IT" sz="2000" b="1" dirty="0"/>
              <a:t>NETWORK TRAINING</a:t>
            </a:r>
          </a:p>
        </p:txBody>
      </p:sp>
      <p:pic>
        <p:nvPicPr>
          <p:cNvPr id="10" name="Immagine 9" descr="Immagine che contiene testo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62C2EFDC-9A75-CD65-A715-E1A6D43C0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266" y="2786009"/>
            <a:ext cx="4580228" cy="3271591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5385ECF-20EE-797D-20E1-865622501C8C}"/>
              </a:ext>
            </a:extLst>
          </p:cNvPr>
          <p:cNvSpPr txBox="1"/>
          <p:nvPr/>
        </p:nvSpPr>
        <p:spPr>
          <a:xfrm>
            <a:off x="1642299" y="1985624"/>
            <a:ext cx="4624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it-IT" sz="1600" dirty="0"/>
              <a:t>4 training steps (batch size 16 → 32 → 64 → 128)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600" dirty="0"/>
              <a:t>8 </a:t>
            </a:r>
            <a:r>
              <a:rPr lang="it-IT" sz="1600" dirty="0" err="1"/>
              <a:t>epochs</a:t>
            </a:r>
            <a:r>
              <a:rPr lang="it-IT" sz="1600" dirty="0"/>
              <a:t> per step (32 </a:t>
            </a:r>
            <a:r>
              <a:rPr lang="it-IT" sz="1600" dirty="0" err="1"/>
              <a:t>total</a:t>
            </a:r>
            <a:r>
              <a:rPr lang="it-IT" sz="1600" dirty="0"/>
              <a:t> </a:t>
            </a:r>
            <a:r>
              <a:rPr lang="it-IT" sz="1600" dirty="0" err="1"/>
              <a:t>epochs</a:t>
            </a:r>
            <a:r>
              <a:rPr lang="it-IT" sz="1600" dirty="0"/>
              <a:t>)</a:t>
            </a: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43E9AB45-856B-F919-E7D8-18DAC627D6AA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6407C097-0BEA-2107-CDAC-A6D7F389F033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AE539BCC-1DF2-EA31-9E4C-3A91D1B74213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95CAF7B5-C434-2E31-5ADE-F89CBCF91867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00FDD318-03BE-67F6-D69C-7CC81DD26680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917F38EC-298E-D48E-DFFD-84598BDBEFAA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91D44F9E-3A1A-EB6E-16F9-CA82758883B6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6" name="Connettore 1 25">
            <a:extLst>
              <a:ext uri="{FF2B5EF4-FFF2-40B4-BE49-F238E27FC236}">
                <a16:creationId xmlns:a16="http://schemas.microsoft.com/office/drawing/2014/main" id="{954EC26F-8A94-55A0-1C5D-7999D5133498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Ovale 26">
            <a:extLst>
              <a:ext uri="{FF2B5EF4-FFF2-40B4-BE49-F238E27FC236}">
                <a16:creationId xmlns:a16="http://schemas.microsoft.com/office/drawing/2014/main" id="{527E4F3E-0F15-FE4D-16A1-2339E91EAA07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C0C04F25-6E4D-54CC-8E6A-87E9F568E5AF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CC3E0B7F-3657-D392-B73D-38F4CB877FF5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D1FF09AB-8D6D-494C-1F97-0AA0FCC0C9F2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0CC89116-7A74-ECE1-7DA8-E6856C48A5B9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83A105A4-9A0E-C388-E7ED-BF4BA92DFEA6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21BD0FF1-AAB1-E791-3F9A-31C871C30C5D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31838972-DD03-D919-E42C-7044A0D970BD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9D9DF112-3BE4-7584-9C7F-584EF247BFE6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F6B9E969-0431-C93F-42BE-47F8BD77BBD3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5367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DBA5D-6B83-311F-DC79-A197A700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AFFB75D-04CC-D210-89C1-D897EA285D36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BEA3AD8D-29BC-17C6-C210-ED5BF4E94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790576D-EA90-D5E2-B9C5-37657A3172BC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5DE6986D-CD91-6874-FBF6-65E1693B0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141" y="1281712"/>
            <a:ext cx="2788550" cy="517695"/>
          </a:xfrm>
        </p:spPr>
        <p:txBody>
          <a:bodyPr>
            <a:normAutofit/>
          </a:bodyPr>
          <a:lstStyle/>
          <a:p>
            <a:r>
              <a:rPr lang="it-IT" sz="2000" b="1" dirty="0"/>
              <a:t>RESULTS AND METRICS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2F00972-03EA-83B5-AFFB-F0EEF0C5877E}"/>
              </a:ext>
            </a:extLst>
          </p:cNvPr>
          <p:cNvSpPr txBox="1"/>
          <p:nvPr/>
        </p:nvSpPr>
        <p:spPr>
          <a:xfrm>
            <a:off x="710885" y="2125764"/>
            <a:ext cx="77287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it-IT" sz="1600" b="1" dirty="0"/>
              <a:t>Mean </a:t>
            </a:r>
            <a:r>
              <a:rPr lang="it-IT" sz="1600" b="1" dirty="0" err="1"/>
              <a:t>Squared</a:t>
            </a:r>
            <a:r>
              <a:rPr lang="it-IT" sz="1600" b="1" dirty="0"/>
              <a:t> </a:t>
            </a:r>
            <a:r>
              <a:rPr lang="it-IT" sz="1600" b="1" dirty="0" err="1"/>
              <a:t>Error</a:t>
            </a:r>
            <a:r>
              <a:rPr lang="it-IT" sz="1600" b="1" dirty="0"/>
              <a:t> (MSE):</a:t>
            </a:r>
            <a:r>
              <a:rPr lang="it-IT" sz="1600" dirty="0"/>
              <a:t> utilizzata come funzione di </a:t>
            </a:r>
            <a:r>
              <a:rPr lang="it-IT" sz="1600" dirty="0" err="1"/>
              <a:t>loss</a:t>
            </a:r>
            <a:r>
              <a:rPr lang="it-IT" sz="1600" dirty="0"/>
              <a:t> principale.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600" b="1" dirty="0"/>
              <a:t>Mean Absolute </a:t>
            </a:r>
            <a:r>
              <a:rPr lang="it-IT" sz="1600" b="1" dirty="0" err="1"/>
              <a:t>Error</a:t>
            </a:r>
            <a:r>
              <a:rPr lang="it-IT" sz="1600" b="1" dirty="0"/>
              <a:t> (MAE):</a:t>
            </a:r>
            <a:r>
              <a:rPr lang="it-IT" sz="1600" dirty="0"/>
              <a:t> metrica monitorata durante training e </a:t>
            </a:r>
            <a:r>
              <a:rPr lang="it-IT" sz="1600" dirty="0" err="1"/>
              <a:t>validation</a:t>
            </a:r>
            <a:r>
              <a:rPr lang="it-IT" sz="16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600" b="1" dirty="0"/>
              <a:t>Performance on Test Set:</a:t>
            </a:r>
            <a:r>
              <a:rPr lang="it-IT" sz="1600" dirty="0"/>
              <a:t> riportare i valori di MSE e MAE finali dopo l’addestramento.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600" b="1" dirty="0" err="1"/>
              <a:t>Comparison</a:t>
            </a:r>
            <a:r>
              <a:rPr lang="it-IT" sz="1600" b="1" dirty="0"/>
              <a:t>:</a:t>
            </a:r>
            <a:r>
              <a:rPr lang="it-IT" sz="1600" dirty="0"/>
              <a:t> confronto tra training, </a:t>
            </a:r>
            <a:r>
              <a:rPr lang="it-IT" sz="1600" dirty="0" err="1"/>
              <a:t>validation</a:t>
            </a:r>
            <a:r>
              <a:rPr lang="it-IT" sz="1600" dirty="0"/>
              <a:t> e test (per evidenziare eventuale </a:t>
            </a:r>
            <a:r>
              <a:rPr lang="it-IT" sz="1600" dirty="0" err="1"/>
              <a:t>overfitting</a:t>
            </a:r>
            <a:r>
              <a:rPr lang="it-IT" sz="1600" dirty="0"/>
              <a:t>).</a:t>
            </a:r>
          </a:p>
        </p:txBody>
      </p:sp>
      <p:pic>
        <p:nvPicPr>
          <p:cNvPr id="9" name="Immagine 8" descr="Immagine che contiene testo, schermata, linea, Rettangolo&#10;&#10;Il contenuto generato dall'IA potrebbe non essere corretto.">
            <a:extLst>
              <a:ext uri="{FF2B5EF4-FFF2-40B4-BE49-F238E27FC236}">
                <a16:creationId xmlns:a16="http://schemas.microsoft.com/office/drawing/2014/main" id="{96744C2D-7AEB-6451-4219-50AFC846B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13" y="3429000"/>
            <a:ext cx="8341805" cy="25125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0" name="Input penna 79">
                <a:extLst>
                  <a:ext uri="{FF2B5EF4-FFF2-40B4-BE49-F238E27FC236}">
                    <a16:creationId xmlns:a16="http://schemas.microsoft.com/office/drawing/2014/main" id="{9A2AB7E1-BA44-388E-D25C-E9139E141321}"/>
                  </a:ext>
                </a:extLst>
              </p14:cNvPr>
              <p14:cNvContentPartPr/>
              <p14:nvPr/>
            </p14:nvContentPartPr>
            <p14:xfrm>
              <a:off x="6120469" y="4531353"/>
              <a:ext cx="360" cy="360"/>
            </p14:xfrm>
          </p:contentPart>
        </mc:Choice>
        <mc:Fallback xmlns="">
          <p:pic>
            <p:nvPicPr>
              <p:cNvPr id="80" name="Input penna 79">
                <a:extLst>
                  <a:ext uri="{FF2B5EF4-FFF2-40B4-BE49-F238E27FC236}">
                    <a16:creationId xmlns:a16="http://schemas.microsoft.com/office/drawing/2014/main" id="{9A2AB7E1-BA44-388E-D25C-E9139E1413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57469" y="446871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1" name="Input penna 80">
                <a:extLst>
                  <a:ext uri="{FF2B5EF4-FFF2-40B4-BE49-F238E27FC236}">
                    <a16:creationId xmlns:a16="http://schemas.microsoft.com/office/drawing/2014/main" id="{DB9679DA-9E32-FD1D-0327-34B783E05D2B}"/>
                  </a:ext>
                </a:extLst>
              </p14:cNvPr>
              <p14:cNvContentPartPr/>
              <p14:nvPr/>
            </p14:nvContentPartPr>
            <p14:xfrm>
              <a:off x="6116869" y="4874073"/>
              <a:ext cx="360" cy="360"/>
            </p14:xfrm>
          </p:contentPart>
        </mc:Choice>
        <mc:Fallback xmlns="">
          <p:pic>
            <p:nvPicPr>
              <p:cNvPr id="81" name="Input penna 80">
                <a:extLst>
                  <a:ext uri="{FF2B5EF4-FFF2-40B4-BE49-F238E27FC236}">
                    <a16:creationId xmlns:a16="http://schemas.microsoft.com/office/drawing/2014/main" id="{DB9679DA-9E32-FD1D-0327-34B783E05D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54229" y="481143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2" name="Input penna 81">
                <a:extLst>
                  <a:ext uri="{FF2B5EF4-FFF2-40B4-BE49-F238E27FC236}">
                    <a16:creationId xmlns:a16="http://schemas.microsoft.com/office/drawing/2014/main" id="{D7EF4FFB-C6F1-2BA1-1F18-EC7474604CC4}"/>
                  </a:ext>
                </a:extLst>
              </p14:cNvPr>
              <p14:cNvContentPartPr/>
              <p14:nvPr/>
            </p14:nvContentPartPr>
            <p14:xfrm>
              <a:off x="6087709" y="5174673"/>
              <a:ext cx="360" cy="360"/>
            </p14:xfrm>
          </p:contentPart>
        </mc:Choice>
        <mc:Fallback xmlns="">
          <p:pic>
            <p:nvPicPr>
              <p:cNvPr id="82" name="Input penna 81">
                <a:extLst>
                  <a:ext uri="{FF2B5EF4-FFF2-40B4-BE49-F238E27FC236}">
                    <a16:creationId xmlns:a16="http://schemas.microsoft.com/office/drawing/2014/main" id="{D7EF4FFB-C6F1-2BA1-1F18-EC7474604C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24709" y="511167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3" name="Input penna 82">
                <a:extLst>
                  <a:ext uri="{FF2B5EF4-FFF2-40B4-BE49-F238E27FC236}">
                    <a16:creationId xmlns:a16="http://schemas.microsoft.com/office/drawing/2014/main" id="{29BB7AAF-1B41-C341-7DF6-EDF949DD1277}"/>
                  </a:ext>
                </a:extLst>
              </p14:cNvPr>
              <p14:cNvContentPartPr/>
              <p14:nvPr/>
            </p14:nvContentPartPr>
            <p14:xfrm>
              <a:off x="8830549" y="4525953"/>
              <a:ext cx="360" cy="360"/>
            </p14:xfrm>
          </p:contentPart>
        </mc:Choice>
        <mc:Fallback xmlns="">
          <p:pic>
            <p:nvPicPr>
              <p:cNvPr id="83" name="Input penna 82">
                <a:extLst>
                  <a:ext uri="{FF2B5EF4-FFF2-40B4-BE49-F238E27FC236}">
                    <a16:creationId xmlns:a16="http://schemas.microsoft.com/office/drawing/2014/main" id="{29BB7AAF-1B41-C341-7DF6-EDF949DD12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67549" y="446331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4" name="Input penna 83">
                <a:extLst>
                  <a:ext uri="{FF2B5EF4-FFF2-40B4-BE49-F238E27FC236}">
                    <a16:creationId xmlns:a16="http://schemas.microsoft.com/office/drawing/2014/main" id="{E8AD0DB6-E410-4476-818E-AD422DC99F30}"/>
                  </a:ext>
                </a:extLst>
              </p14:cNvPr>
              <p14:cNvContentPartPr/>
              <p14:nvPr/>
            </p14:nvContentPartPr>
            <p14:xfrm>
              <a:off x="8737309" y="4860393"/>
              <a:ext cx="360" cy="360"/>
            </p14:xfrm>
          </p:contentPart>
        </mc:Choice>
        <mc:Fallback xmlns="">
          <p:pic>
            <p:nvPicPr>
              <p:cNvPr id="84" name="Input penna 83">
                <a:extLst>
                  <a:ext uri="{FF2B5EF4-FFF2-40B4-BE49-F238E27FC236}">
                    <a16:creationId xmlns:a16="http://schemas.microsoft.com/office/drawing/2014/main" id="{E8AD0DB6-E410-4476-818E-AD422DC99F3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74309" y="4797753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5" name="Input penna 84">
                <a:extLst>
                  <a:ext uri="{FF2B5EF4-FFF2-40B4-BE49-F238E27FC236}">
                    <a16:creationId xmlns:a16="http://schemas.microsoft.com/office/drawing/2014/main" id="{F56E1E8C-AD75-7527-EBFB-8467403EDE2E}"/>
                  </a:ext>
                </a:extLst>
              </p14:cNvPr>
              <p14:cNvContentPartPr/>
              <p14:nvPr/>
            </p14:nvContentPartPr>
            <p14:xfrm>
              <a:off x="8824789" y="5213553"/>
              <a:ext cx="360" cy="360"/>
            </p14:xfrm>
          </p:contentPart>
        </mc:Choice>
        <mc:Fallback xmlns="">
          <p:pic>
            <p:nvPicPr>
              <p:cNvPr id="85" name="Input penna 84">
                <a:extLst>
                  <a:ext uri="{FF2B5EF4-FFF2-40B4-BE49-F238E27FC236}">
                    <a16:creationId xmlns:a16="http://schemas.microsoft.com/office/drawing/2014/main" id="{F56E1E8C-AD75-7527-EBFB-8467403EDE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62149" y="5150553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6B05620-3A21-63E9-BCB5-F4809DF42851}"/>
              </a:ext>
            </a:extLst>
          </p:cNvPr>
          <p:cNvSpPr txBox="1"/>
          <p:nvPr/>
        </p:nvSpPr>
        <p:spPr>
          <a:xfrm>
            <a:off x="5733574" y="500710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0.021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2E0FB3A-1626-9DE4-107A-21FC6DF9DF11}"/>
              </a:ext>
            </a:extLst>
          </p:cNvPr>
          <p:cNvSpPr txBox="1"/>
          <p:nvPr/>
        </p:nvSpPr>
        <p:spPr>
          <a:xfrm>
            <a:off x="8349666" y="4991501"/>
            <a:ext cx="773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0.080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35A2848-7297-1C73-29F0-38D0717EBCF0}"/>
              </a:ext>
            </a:extLst>
          </p:cNvPr>
          <p:cNvSpPr txBox="1"/>
          <p:nvPr/>
        </p:nvSpPr>
        <p:spPr>
          <a:xfrm>
            <a:off x="8439606" y="431460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0.10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1A69D02-EF18-493C-805A-662C91B613A4}"/>
              </a:ext>
            </a:extLst>
          </p:cNvPr>
          <p:cNvSpPr txBox="1"/>
          <p:nvPr/>
        </p:nvSpPr>
        <p:spPr>
          <a:xfrm>
            <a:off x="5793699" y="431460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0.25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89F5A8-149D-4E57-EE0F-151DAFCFF768}"/>
              </a:ext>
            </a:extLst>
          </p:cNvPr>
          <p:cNvSpPr txBox="1"/>
          <p:nvPr/>
        </p:nvSpPr>
        <p:spPr>
          <a:xfrm>
            <a:off x="8439606" y="465305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0.08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0A4E8EB-C2F6-4524-73F7-3AC01D4F518C}"/>
              </a:ext>
            </a:extLst>
          </p:cNvPr>
          <p:cNvSpPr txBox="1"/>
          <p:nvPr/>
        </p:nvSpPr>
        <p:spPr>
          <a:xfrm>
            <a:off x="5793699" y="464357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0.22</a:t>
            </a:r>
          </a:p>
        </p:txBody>
      </p:sp>
      <p:sp>
        <p:nvSpPr>
          <p:cNvPr id="86" name="Ovale 85">
            <a:extLst>
              <a:ext uri="{FF2B5EF4-FFF2-40B4-BE49-F238E27FC236}">
                <a16:creationId xmlns:a16="http://schemas.microsoft.com/office/drawing/2014/main" id="{88B0BAB4-659B-EAEB-BC2F-8DD0E6FA5B34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Ovale 86">
            <a:extLst>
              <a:ext uri="{FF2B5EF4-FFF2-40B4-BE49-F238E27FC236}">
                <a16:creationId xmlns:a16="http://schemas.microsoft.com/office/drawing/2014/main" id="{B9D1426B-10D1-07A6-8D66-6DC5A497BD33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Ovale 87">
            <a:extLst>
              <a:ext uri="{FF2B5EF4-FFF2-40B4-BE49-F238E27FC236}">
                <a16:creationId xmlns:a16="http://schemas.microsoft.com/office/drawing/2014/main" id="{EFC67620-73D6-01B9-5A74-88DFBE28A85B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Ovale 88">
            <a:extLst>
              <a:ext uri="{FF2B5EF4-FFF2-40B4-BE49-F238E27FC236}">
                <a16:creationId xmlns:a16="http://schemas.microsoft.com/office/drawing/2014/main" id="{3C10B85D-65B7-A1C6-0996-C476A19922BF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" name="Ovale 89">
            <a:extLst>
              <a:ext uri="{FF2B5EF4-FFF2-40B4-BE49-F238E27FC236}">
                <a16:creationId xmlns:a16="http://schemas.microsoft.com/office/drawing/2014/main" id="{6CE13764-04BD-C942-71E1-179850526A04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1" name="Ovale 90">
            <a:extLst>
              <a:ext uri="{FF2B5EF4-FFF2-40B4-BE49-F238E27FC236}">
                <a16:creationId xmlns:a16="http://schemas.microsoft.com/office/drawing/2014/main" id="{8696EDBA-0AA4-768D-8EF2-26A62EDBC84C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2" name="Ovale 91">
            <a:extLst>
              <a:ext uri="{FF2B5EF4-FFF2-40B4-BE49-F238E27FC236}">
                <a16:creationId xmlns:a16="http://schemas.microsoft.com/office/drawing/2014/main" id="{E16B61AF-55A1-FD5B-EAC3-EE5DB7C4363B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3" name="Connettore 1 92">
            <a:extLst>
              <a:ext uri="{FF2B5EF4-FFF2-40B4-BE49-F238E27FC236}">
                <a16:creationId xmlns:a16="http://schemas.microsoft.com/office/drawing/2014/main" id="{4EECD728-BC23-49BE-48D9-964D7775A276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Ovale 93">
            <a:extLst>
              <a:ext uri="{FF2B5EF4-FFF2-40B4-BE49-F238E27FC236}">
                <a16:creationId xmlns:a16="http://schemas.microsoft.com/office/drawing/2014/main" id="{40080E25-1E2E-6FB8-10D1-C4E73C131C7D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5" name="Ovale 94">
            <a:extLst>
              <a:ext uri="{FF2B5EF4-FFF2-40B4-BE49-F238E27FC236}">
                <a16:creationId xmlns:a16="http://schemas.microsoft.com/office/drawing/2014/main" id="{8B0D10EA-2C06-3931-1DD5-8BD9E14CAC24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6" name="Ovale 95">
            <a:extLst>
              <a:ext uri="{FF2B5EF4-FFF2-40B4-BE49-F238E27FC236}">
                <a16:creationId xmlns:a16="http://schemas.microsoft.com/office/drawing/2014/main" id="{221B47DF-A86B-6F94-711E-388F9340A3A9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7" name="Ovale 96">
            <a:extLst>
              <a:ext uri="{FF2B5EF4-FFF2-40B4-BE49-F238E27FC236}">
                <a16:creationId xmlns:a16="http://schemas.microsoft.com/office/drawing/2014/main" id="{4F1D6F19-773C-5EBF-BF54-02DBCF0631AC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8" name="Ovale 97">
            <a:extLst>
              <a:ext uri="{FF2B5EF4-FFF2-40B4-BE49-F238E27FC236}">
                <a16:creationId xmlns:a16="http://schemas.microsoft.com/office/drawing/2014/main" id="{010533CF-A7B8-5725-6DD8-C609956E822A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9" name="Ovale 98">
            <a:extLst>
              <a:ext uri="{FF2B5EF4-FFF2-40B4-BE49-F238E27FC236}">
                <a16:creationId xmlns:a16="http://schemas.microsoft.com/office/drawing/2014/main" id="{E509F20E-5161-5E1E-DB41-4AE89985C109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8196A40E-7035-28D0-F22C-35A748AE950F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1" name="Ovale 100">
            <a:extLst>
              <a:ext uri="{FF2B5EF4-FFF2-40B4-BE49-F238E27FC236}">
                <a16:creationId xmlns:a16="http://schemas.microsoft.com/office/drawing/2014/main" id="{197675DB-1F68-4945-5EFA-B3E2ED50E67B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2" name="Ovale 101">
            <a:extLst>
              <a:ext uri="{FF2B5EF4-FFF2-40B4-BE49-F238E27FC236}">
                <a16:creationId xmlns:a16="http://schemas.microsoft.com/office/drawing/2014/main" id="{1E2FE061-7112-BFA8-2ECE-761045464F38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3" name="Ovale 102">
            <a:extLst>
              <a:ext uri="{FF2B5EF4-FFF2-40B4-BE49-F238E27FC236}">
                <a16:creationId xmlns:a16="http://schemas.microsoft.com/office/drawing/2014/main" id="{96F90EE8-D223-D3CE-4F57-0138FF5170A3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5749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0B0EB-6140-75D9-672A-246BB29B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F46B37F-57CA-21AC-0198-BB6562525C30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AA9D801D-B5E9-930B-B4D3-F1AC643E8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6DAB430-FB26-5239-4909-6135233A98DC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EAFBDB29-1EED-87F7-9762-9579B3271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8735" y="1265876"/>
            <a:ext cx="3214529" cy="517695"/>
          </a:xfrm>
        </p:spPr>
        <p:txBody>
          <a:bodyPr>
            <a:noAutofit/>
          </a:bodyPr>
          <a:lstStyle/>
          <a:p>
            <a:r>
              <a:rPr lang="it-IT" sz="2000" b="1" dirty="0"/>
              <a:t>RESULTS AND PREDICTIONS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369351C-5A1D-47AB-1946-B9AA3A42BE18}"/>
              </a:ext>
            </a:extLst>
          </p:cNvPr>
          <p:cNvSpPr txBox="1"/>
          <p:nvPr/>
        </p:nvSpPr>
        <p:spPr>
          <a:xfrm>
            <a:off x="207754" y="1647835"/>
            <a:ext cx="588824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it-IT" sz="1500" b="1" dirty="0" err="1"/>
              <a:t>Objective</a:t>
            </a:r>
            <a:r>
              <a:rPr lang="it-IT" sz="1500" b="1" dirty="0"/>
              <a:t>:</a:t>
            </a:r>
            <a:r>
              <a:rPr lang="it-IT" sz="1500" dirty="0"/>
              <a:t> Compare </a:t>
            </a:r>
            <a:r>
              <a:rPr lang="it-IT" sz="1500" dirty="0" err="1"/>
              <a:t>predicted</a:t>
            </a:r>
            <a:r>
              <a:rPr lang="it-IT" sz="1500" dirty="0"/>
              <a:t> vs. </a:t>
            </a:r>
            <a:r>
              <a:rPr lang="it-IT" sz="1500" dirty="0" err="1"/>
              <a:t>actual</a:t>
            </a:r>
            <a:r>
              <a:rPr lang="it-IT" sz="1500" dirty="0"/>
              <a:t> </a:t>
            </a:r>
            <a:r>
              <a:rPr lang="it-IT" sz="1500" dirty="0" err="1"/>
              <a:t>values</a:t>
            </a:r>
            <a:r>
              <a:rPr lang="it-IT" sz="1500" dirty="0"/>
              <a:t> for CRF </a:t>
            </a:r>
            <a:r>
              <a:rPr lang="it-IT" sz="1500" dirty="0" err="1"/>
              <a:t>coordinates</a:t>
            </a:r>
            <a:r>
              <a:rPr lang="it-IT" sz="15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500" b="1" dirty="0"/>
              <a:t>Method:</a:t>
            </a:r>
            <a:r>
              <a:rPr lang="it-IT" sz="1500" dirty="0"/>
              <a:t> </a:t>
            </a:r>
            <a:r>
              <a:rPr lang="it-IT" sz="1500" dirty="0" err="1"/>
              <a:t>Scatter</a:t>
            </a:r>
            <a:r>
              <a:rPr lang="it-IT" sz="1500" dirty="0"/>
              <a:t> plots for CRF_X and CRF_Y.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500" dirty="0"/>
              <a:t>X-</a:t>
            </a:r>
            <a:r>
              <a:rPr lang="it-IT" sz="1500" dirty="0" err="1"/>
              <a:t>axis</a:t>
            </a:r>
            <a:r>
              <a:rPr lang="it-IT" sz="1500" dirty="0"/>
              <a:t> = </a:t>
            </a:r>
            <a:r>
              <a:rPr lang="it-IT" sz="1500" dirty="0" err="1"/>
              <a:t>Actual</a:t>
            </a:r>
            <a:r>
              <a:rPr lang="it-IT" sz="1500" dirty="0"/>
              <a:t> </a:t>
            </a:r>
            <a:r>
              <a:rPr lang="it-IT" sz="1500" dirty="0" err="1"/>
              <a:t>values</a:t>
            </a:r>
            <a:endParaRPr lang="it-IT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500" dirty="0"/>
              <a:t>Y-</a:t>
            </a:r>
            <a:r>
              <a:rPr lang="it-IT" sz="1500" dirty="0" err="1"/>
              <a:t>axis</a:t>
            </a:r>
            <a:r>
              <a:rPr lang="it-IT" sz="1500" dirty="0"/>
              <a:t> = </a:t>
            </a:r>
            <a:r>
              <a:rPr lang="it-IT" sz="1500" dirty="0" err="1"/>
              <a:t>Predicted</a:t>
            </a:r>
            <a:r>
              <a:rPr lang="it-IT" sz="1500" dirty="0"/>
              <a:t> </a:t>
            </a:r>
            <a:r>
              <a:rPr lang="it-IT" sz="1500" dirty="0" err="1"/>
              <a:t>values</a:t>
            </a:r>
            <a:endParaRPr lang="it-IT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500" dirty="0"/>
              <a:t>Red </a:t>
            </a:r>
            <a:r>
              <a:rPr lang="it-IT" sz="1500" dirty="0" err="1"/>
              <a:t>dashed</a:t>
            </a:r>
            <a:r>
              <a:rPr lang="it-IT" sz="1500" dirty="0"/>
              <a:t> line = Ideal case (</a:t>
            </a:r>
            <a:r>
              <a:rPr lang="it-IT" sz="1500" dirty="0" err="1"/>
              <a:t>perfect</a:t>
            </a:r>
            <a:r>
              <a:rPr lang="it-IT" sz="1500" dirty="0"/>
              <a:t> </a:t>
            </a:r>
            <a:r>
              <a:rPr lang="it-IT" sz="1500" dirty="0" err="1"/>
              <a:t>predictions</a:t>
            </a:r>
            <a:r>
              <a:rPr lang="it-IT" sz="1500" dirty="0"/>
              <a:t>)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4B16D0F-069C-AC8A-56B2-080AF6DB3A11}"/>
              </a:ext>
            </a:extLst>
          </p:cNvPr>
          <p:cNvSpPr txBox="1"/>
          <p:nvPr/>
        </p:nvSpPr>
        <p:spPr>
          <a:xfrm>
            <a:off x="6095999" y="1710053"/>
            <a:ext cx="609600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it-IT" sz="1500" b="1" dirty="0" err="1"/>
              <a:t>Interpretation</a:t>
            </a:r>
            <a:r>
              <a:rPr lang="it-IT" sz="1500" b="1" dirty="0"/>
              <a:t>:</a:t>
            </a:r>
            <a:endParaRPr lang="it-IT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500" dirty="0"/>
              <a:t>Points close to the </a:t>
            </a:r>
            <a:r>
              <a:rPr lang="it-IT" sz="1500" dirty="0" err="1"/>
              <a:t>diagonal</a:t>
            </a:r>
            <a:r>
              <a:rPr lang="it-IT" sz="1500" dirty="0"/>
              <a:t> → good </a:t>
            </a:r>
            <a:r>
              <a:rPr lang="it-IT" sz="1500" dirty="0" err="1"/>
              <a:t>accuracy</a:t>
            </a:r>
            <a:r>
              <a:rPr lang="it-IT" sz="15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sz="1500" dirty="0"/>
              <a:t>Points far from the </a:t>
            </a:r>
            <a:r>
              <a:rPr lang="it-IT" sz="1500" dirty="0" err="1"/>
              <a:t>diagonal</a:t>
            </a:r>
            <a:r>
              <a:rPr lang="it-IT" sz="1500" dirty="0"/>
              <a:t> → </a:t>
            </a:r>
            <a:r>
              <a:rPr lang="it-IT" sz="1500" dirty="0" err="1"/>
              <a:t>larger</a:t>
            </a:r>
            <a:r>
              <a:rPr lang="it-IT" sz="1500" dirty="0"/>
              <a:t> </a:t>
            </a:r>
            <a:r>
              <a:rPr lang="it-IT" sz="1500" dirty="0" err="1"/>
              <a:t>prediction</a:t>
            </a:r>
            <a:r>
              <a:rPr lang="it-IT" sz="1500" dirty="0"/>
              <a:t> </a:t>
            </a:r>
            <a:r>
              <a:rPr lang="it-IT" sz="1500" dirty="0" err="1"/>
              <a:t>errors</a:t>
            </a:r>
            <a:r>
              <a:rPr lang="it-IT" sz="15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500" b="1" dirty="0" err="1"/>
              <a:t>Conclusion</a:t>
            </a:r>
            <a:r>
              <a:rPr lang="it-IT" sz="1500" b="1" dirty="0"/>
              <a:t>:</a:t>
            </a:r>
            <a:r>
              <a:rPr lang="it-IT" sz="1500" dirty="0"/>
              <a:t> The model </a:t>
            </a:r>
            <a:r>
              <a:rPr lang="it-IT" sz="1500" dirty="0" err="1"/>
              <a:t>demonstrates</a:t>
            </a:r>
            <a:r>
              <a:rPr lang="it-IT" sz="1500" dirty="0"/>
              <a:t> [good/</a:t>
            </a:r>
            <a:r>
              <a:rPr lang="it-IT" sz="1500" dirty="0" err="1"/>
              <a:t>acceptable</a:t>
            </a:r>
            <a:r>
              <a:rPr lang="it-IT" sz="1500" dirty="0"/>
              <a:t>/</a:t>
            </a:r>
            <a:r>
              <a:rPr lang="it-IT" sz="1500" dirty="0" err="1"/>
              <a:t>needs</a:t>
            </a:r>
            <a:r>
              <a:rPr lang="it-IT" sz="1500" dirty="0"/>
              <a:t> </a:t>
            </a:r>
            <a:r>
              <a:rPr lang="it-IT" sz="1500" dirty="0" err="1"/>
              <a:t>improvement</a:t>
            </a:r>
            <a:r>
              <a:rPr lang="it-IT" sz="1500" dirty="0"/>
              <a:t>] </a:t>
            </a:r>
            <a:r>
              <a:rPr lang="it-IT" sz="1500" dirty="0" err="1"/>
              <a:t>alignment</a:t>
            </a:r>
            <a:r>
              <a:rPr lang="it-IT" sz="1500" dirty="0"/>
              <a:t> </a:t>
            </a:r>
            <a:r>
              <a:rPr lang="it-IT" sz="1500" dirty="0" err="1"/>
              <a:t>between</a:t>
            </a:r>
            <a:r>
              <a:rPr lang="it-IT" sz="1500" dirty="0"/>
              <a:t> </a:t>
            </a:r>
            <a:r>
              <a:rPr lang="it-IT" sz="1500" dirty="0" err="1"/>
              <a:t>predictions</a:t>
            </a:r>
            <a:r>
              <a:rPr lang="it-IT" sz="1500" dirty="0"/>
              <a:t> and ground truth.</a:t>
            </a:r>
          </a:p>
          <a:p>
            <a:endParaRPr lang="it-IT" dirty="0"/>
          </a:p>
        </p:txBody>
      </p:sp>
      <p:pic>
        <p:nvPicPr>
          <p:cNvPr id="14" name="Immagine 13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1C500AF-CC77-D9FC-A16F-794CC95E0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585" y="2901679"/>
            <a:ext cx="3260073" cy="3260073"/>
          </a:xfrm>
          <a:prstGeom prst="rect">
            <a:avLst/>
          </a:prstGeom>
        </p:spPr>
      </p:pic>
      <p:pic>
        <p:nvPicPr>
          <p:cNvPr id="18" name="Immagine 17" descr="Immagine che contiene testo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6BCBE21E-CD47-C0FE-E422-1BDAE6246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663" y="2901681"/>
            <a:ext cx="3260072" cy="3260072"/>
          </a:xfrm>
          <a:prstGeom prst="rect">
            <a:avLst/>
          </a:prstGeom>
        </p:spPr>
      </p:pic>
      <p:sp>
        <p:nvSpPr>
          <p:cNvPr id="22" name="Ovale 21">
            <a:extLst>
              <a:ext uri="{FF2B5EF4-FFF2-40B4-BE49-F238E27FC236}">
                <a16:creationId xmlns:a16="http://schemas.microsoft.com/office/drawing/2014/main" id="{42268C78-D153-1A28-83F0-84B6DACDA8AB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84D702C-24E4-7132-4CFC-C12BEC1B586C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B4251898-B352-EA29-D048-8979B866F058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45AF9984-811C-2698-2304-730B3ABF0471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4CD10E03-A6B2-5458-E633-B1B2855B4594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0C356FDE-0D79-0FF9-E1AF-C144D4F964F0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95282AF7-0842-6C7E-D695-716347978475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0" name="Connettore 1 29">
            <a:extLst>
              <a:ext uri="{FF2B5EF4-FFF2-40B4-BE49-F238E27FC236}">
                <a16:creationId xmlns:a16="http://schemas.microsoft.com/office/drawing/2014/main" id="{F3349831-F26A-FCD5-3ECA-4C37EB7AE2F0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Ovale 31">
            <a:extLst>
              <a:ext uri="{FF2B5EF4-FFF2-40B4-BE49-F238E27FC236}">
                <a16:creationId xmlns:a16="http://schemas.microsoft.com/office/drawing/2014/main" id="{36E5E342-6BA6-4ED3-3ACD-B688CB18EAA9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1249DB0C-FA92-AA02-75DC-C06D01C03ADF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668BD6C9-E1F6-3393-47A8-06BB80D92E6B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96E62B2B-67AB-17FF-5EEC-809656F8A3B7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92AD0E1C-56BF-C27C-8074-F061F21873DC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F8F54A9E-527B-ECAD-CD79-04583C27395C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6DE5E141-4048-7C0F-2B50-6E1F62C6B3BB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69C542FA-4568-BE15-C4BD-350458021ACE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E4F484A2-76BE-CC6B-6030-F04C57DF331A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B9097CCF-89B8-D451-072D-F7068DFEE676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8701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1E3D-4BBF-BA32-2319-819EAFAA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D28B144-29B3-253C-6DC0-8887332410EB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C159E765-EDEC-EDF5-4227-7EC21EC8D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D63866-E096-B1D3-6D8E-7814E827EFDD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AF42227C-B31C-5C41-1E8A-F6619D562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1725" y="1287954"/>
            <a:ext cx="2788550" cy="517695"/>
          </a:xfrm>
        </p:spPr>
        <p:txBody>
          <a:bodyPr>
            <a:normAutofit/>
          </a:bodyPr>
          <a:lstStyle/>
          <a:p>
            <a:r>
              <a:rPr lang="it-IT" sz="2000" b="1" dirty="0"/>
              <a:t>ERROR ANALYSIS</a:t>
            </a:r>
          </a:p>
        </p:txBody>
      </p:sp>
      <p:pic>
        <p:nvPicPr>
          <p:cNvPr id="5" name="Immagine 4" descr="Immagine che contiene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1270AEC8-D1A7-92CB-5AFC-479330A74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53299"/>
            <a:ext cx="6025263" cy="2410105"/>
          </a:xfrm>
          <a:prstGeom prst="rect">
            <a:avLst/>
          </a:prstGeom>
        </p:spPr>
      </p:pic>
      <p:pic>
        <p:nvPicPr>
          <p:cNvPr id="9" name="Immagine 8" descr="Immagine che contiene diagramma,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DCE48144-2703-FD7F-DB74-BB7D910C1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381" y="3753299"/>
            <a:ext cx="5803457" cy="247243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2C61ED3-80BB-6D6F-3D68-E62F30D3EA44}"/>
              </a:ext>
            </a:extLst>
          </p:cNvPr>
          <p:cNvSpPr txBox="1"/>
          <p:nvPr/>
        </p:nvSpPr>
        <p:spPr>
          <a:xfrm>
            <a:off x="622003" y="2111976"/>
            <a:ext cx="54258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it-IT" sz="1500" i="1" dirty="0" err="1"/>
              <a:t>Residuals</a:t>
            </a:r>
            <a:r>
              <a:rPr lang="it-IT" sz="1500" i="1" dirty="0"/>
              <a:t> are </a:t>
            </a:r>
            <a:r>
              <a:rPr lang="it-IT" sz="1500" i="1" dirty="0" err="1"/>
              <a:t>centered</a:t>
            </a:r>
            <a:r>
              <a:rPr lang="it-IT" sz="1500" i="1" dirty="0"/>
              <a:t> </a:t>
            </a:r>
            <a:r>
              <a:rPr lang="it-IT" sz="1500" i="1" dirty="0" err="1"/>
              <a:t>around</a:t>
            </a:r>
            <a:r>
              <a:rPr lang="it-IT" sz="1500" i="1" dirty="0"/>
              <a:t> zero for </a:t>
            </a:r>
            <a:r>
              <a:rPr lang="it-IT" sz="1500" i="1" dirty="0" err="1"/>
              <a:t>both</a:t>
            </a:r>
            <a:r>
              <a:rPr lang="it-IT" sz="1500" i="1" dirty="0"/>
              <a:t> CRF_X and CRF_Y, </a:t>
            </a:r>
            <a:r>
              <a:rPr lang="it-IT" sz="1500" i="1" dirty="0" err="1"/>
              <a:t>indicating</a:t>
            </a:r>
            <a:r>
              <a:rPr lang="it-IT" sz="1500" i="1" dirty="0"/>
              <a:t> no </a:t>
            </a:r>
            <a:r>
              <a:rPr lang="it-IT" sz="1500" i="1" dirty="0" err="1"/>
              <a:t>systematic</a:t>
            </a:r>
            <a:r>
              <a:rPr lang="it-IT" sz="1500" i="1" dirty="0"/>
              <a:t> </a:t>
            </a:r>
            <a:r>
              <a:rPr lang="it-IT" sz="1500" i="1" dirty="0" err="1"/>
              <a:t>bias</a:t>
            </a:r>
            <a:r>
              <a:rPr lang="it-IT" sz="1500" i="1" dirty="0"/>
              <a:t>.</a:t>
            </a:r>
            <a:endParaRPr lang="it-IT" sz="1500" dirty="0"/>
          </a:p>
          <a:p>
            <a:pPr marL="285750" indent="-285750">
              <a:buFont typeface="Wingdings" pitchFamily="2" charset="2"/>
              <a:buChar char="Ø"/>
            </a:pPr>
            <a:r>
              <a:rPr lang="it-IT" sz="1500" i="1" dirty="0" err="1"/>
              <a:t>Most</a:t>
            </a:r>
            <a:r>
              <a:rPr lang="it-IT" sz="1500" i="1" dirty="0"/>
              <a:t> </a:t>
            </a:r>
            <a:r>
              <a:rPr lang="it-IT" sz="1500" i="1" dirty="0" err="1"/>
              <a:t>errors</a:t>
            </a:r>
            <a:r>
              <a:rPr lang="it-IT" sz="1500" i="1" dirty="0"/>
              <a:t> are small, </a:t>
            </a:r>
            <a:r>
              <a:rPr lang="it-IT" sz="1500" i="1" dirty="0" err="1"/>
              <a:t>but</a:t>
            </a:r>
            <a:r>
              <a:rPr lang="it-IT" sz="1500" i="1" dirty="0"/>
              <a:t> </a:t>
            </a:r>
            <a:r>
              <a:rPr lang="it-IT" sz="1500" i="1" dirty="0" err="1"/>
              <a:t>dispersion</a:t>
            </a:r>
            <a:r>
              <a:rPr lang="it-IT" sz="1500" i="1" dirty="0"/>
              <a:t> </a:t>
            </a:r>
            <a:r>
              <a:rPr lang="it-IT" sz="1500" i="1" dirty="0" err="1"/>
              <a:t>increases</a:t>
            </a:r>
            <a:r>
              <a:rPr lang="it-IT" sz="1500" i="1" dirty="0"/>
              <a:t> </a:t>
            </a:r>
            <a:r>
              <a:rPr lang="it-IT" sz="1500" i="1" dirty="0" err="1"/>
              <a:t>slightly</a:t>
            </a:r>
            <a:r>
              <a:rPr lang="it-IT" sz="1500" i="1" dirty="0"/>
              <a:t> </a:t>
            </a:r>
            <a:r>
              <a:rPr lang="it-IT" sz="1500" i="1" dirty="0" err="1"/>
              <a:t>at</a:t>
            </a:r>
            <a:r>
              <a:rPr lang="it-IT" sz="1500" i="1" dirty="0"/>
              <a:t> </a:t>
            </a:r>
            <a:r>
              <a:rPr lang="it-IT" sz="1500" i="1" dirty="0" err="1"/>
              <a:t>extreme</a:t>
            </a:r>
            <a:r>
              <a:rPr lang="it-IT" sz="1500" i="1" dirty="0"/>
              <a:t> </a:t>
            </a:r>
            <a:r>
              <a:rPr lang="it-IT" sz="1500" i="1" dirty="0" err="1"/>
              <a:t>values</a:t>
            </a:r>
            <a:r>
              <a:rPr lang="it-IT" sz="1500" i="1" dirty="0"/>
              <a:t>.</a:t>
            </a:r>
            <a:endParaRPr lang="it-IT" sz="1500" dirty="0"/>
          </a:p>
          <a:p>
            <a:pPr marL="285750" indent="-285750">
              <a:buFont typeface="Wingdings" pitchFamily="2" charset="2"/>
              <a:buChar char="Ø"/>
            </a:pPr>
            <a:r>
              <a:rPr lang="it-IT" sz="1500" i="1" dirty="0" err="1"/>
              <a:t>This</a:t>
            </a:r>
            <a:r>
              <a:rPr lang="it-IT" sz="1500" i="1" dirty="0"/>
              <a:t> </a:t>
            </a:r>
            <a:r>
              <a:rPr lang="it-IT" sz="1500" i="1" dirty="0" err="1"/>
              <a:t>suggests</a:t>
            </a:r>
            <a:r>
              <a:rPr lang="it-IT" sz="1500" i="1" dirty="0"/>
              <a:t> the model </a:t>
            </a:r>
            <a:r>
              <a:rPr lang="it-IT" sz="1500" i="1" dirty="0" err="1"/>
              <a:t>generalizes</a:t>
            </a:r>
            <a:r>
              <a:rPr lang="it-IT" sz="1500" i="1" dirty="0"/>
              <a:t> </a:t>
            </a:r>
            <a:r>
              <a:rPr lang="it-IT" sz="1500" i="1" dirty="0" err="1"/>
              <a:t>well</a:t>
            </a:r>
            <a:r>
              <a:rPr lang="it-IT" sz="1500" i="1" dirty="0"/>
              <a:t>, with minor </a:t>
            </a:r>
            <a:r>
              <a:rPr lang="it-IT" sz="1500" i="1" dirty="0" err="1"/>
              <a:t>difficulties</a:t>
            </a:r>
            <a:r>
              <a:rPr lang="it-IT" sz="1500" i="1" dirty="0"/>
              <a:t> in </a:t>
            </a:r>
            <a:r>
              <a:rPr lang="it-IT" sz="1500" i="1" dirty="0" err="1"/>
              <a:t>boundary</a:t>
            </a:r>
            <a:r>
              <a:rPr lang="it-IT" sz="1500" i="1" dirty="0"/>
              <a:t> </a:t>
            </a:r>
            <a:r>
              <a:rPr lang="it-IT" sz="1500" i="1" dirty="0" err="1"/>
              <a:t>regions</a:t>
            </a:r>
            <a:r>
              <a:rPr lang="it-IT" sz="1500" i="1" dirty="0"/>
              <a:t>.</a:t>
            </a:r>
            <a:endParaRPr lang="it-IT" sz="1500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1DFD75F5-3372-C93F-6B06-A3D7F55988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430" t="57707" r="61851" b="34883"/>
          <a:stretch>
            <a:fillRect/>
          </a:stretch>
        </p:blipFill>
        <p:spPr>
          <a:xfrm>
            <a:off x="7490275" y="2180629"/>
            <a:ext cx="3569898" cy="627269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085354D1-D7FD-F9D9-45BE-7E1261ECF95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360" t="69293" r="56128" b="24412"/>
          <a:stretch>
            <a:fillRect/>
          </a:stretch>
        </p:blipFill>
        <p:spPr>
          <a:xfrm>
            <a:off x="7758771" y="2965227"/>
            <a:ext cx="2800643" cy="605023"/>
          </a:xfrm>
          <a:prstGeom prst="rect">
            <a:avLst/>
          </a:prstGeom>
        </p:spPr>
      </p:pic>
      <p:sp>
        <p:nvSpPr>
          <p:cNvPr id="22" name="Ovale 21">
            <a:extLst>
              <a:ext uri="{FF2B5EF4-FFF2-40B4-BE49-F238E27FC236}">
                <a16:creationId xmlns:a16="http://schemas.microsoft.com/office/drawing/2014/main" id="{F6D9B7C3-1744-5339-A6A4-8FBD12DA51C3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6F54FD08-D000-A91F-D76F-0ABE1492805A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5DFE049E-84E3-D7B7-9363-EC0B9DEB27A8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63A96B83-0855-683F-1A67-BA365B0D9AB1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1B3A14A0-4C60-6541-63BB-D9732B9BA756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FB47A563-2635-A7E8-AC7D-C2AB01C60E9F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F5F3FFBB-F732-730D-F0D4-10E78CC5E576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0" name="Connettore 1 29">
            <a:extLst>
              <a:ext uri="{FF2B5EF4-FFF2-40B4-BE49-F238E27FC236}">
                <a16:creationId xmlns:a16="http://schemas.microsoft.com/office/drawing/2014/main" id="{7E0286E5-3C00-2C1D-2372-92EB6B67D457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Ovale 31">
            <a:extLst>
              <a:ext uri="{FF2B5EF4-FFF2-40B4-BE49-F238E27FC236}">
                <a16:creationId xmlns:a16="http://schemas.microsoft.com/office/drawing/2014/main" id="{8EC32FAC-2E03-4906-22D8-A2910C2027CC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6F45965A-6D5E-1D1D-CD48-33FB71A56D8A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3E294028-0579-E10D-727A-6CD9452DDE6F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77B23F3F-9136-759B-800C-14256B9C031C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E63E294A-480C-C7CC-A417-29681A590371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5A618C63-0D3E-61AA-85AE-8603847B38EE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14569047-E8DC-64FE-1459-F6192E2B834C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9F185077-E7E2-BCB7-33CF-59156CC35509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5D36DA6A-0152-42FD-A509-B500A93D56BB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E3E997C3-3A04-7E10-0F9F-0BBC1D39B99C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5336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D2EFE-B4B9-D795-E163-112B657D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CCC705B-BA55-73FD-7E6A-FF63CF5D729A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D123FB7B-5B9A-2BAE-F943-8D30FEDBC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CE77153-2A8A-F5BE-3725-354B807F41E4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57A5A09B-6305-1851-697A-3C4628A39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141" y="1354648"/>
            <a:ext cx="2788550" cy="517695"/>
          </a:xfrm>
        </p:spPr>
        <p:txBody>
          <a:bodyPr>
            <a:normAutofit fontScale="77500" lnSpcReduction="20000"/>
          </a:bodyPr>
          <a:lstStyle/>
          <a:p>
            <a:r>
              <a:rPr lang="it-IT" b="1" dirty="0"/>
              <a:t>FUTURE DEVELOPMENTS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A7F42B5-EC6C-9632-6C48-CD3BA26A2291}"/>
              </a:ext>
            </a:extLst>
          </p:cNvPr>
          <p:cNvSpPr txBox="1"/>
          <p:nvPr/>
        </p:nvSpPr>
        <p:spPr>
          <a:xfrm>
            <a:off x="420126" y="2280501"/>
            <a:ext cx="60977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it-IT" sz="1500" b="1" dirty="0"/>
              <a:t>Dataset Expansion</a:t>
            </a:r>
            <a:endParaRPr lang="it-IT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 err="1"/>
              <a:t>Collect</a:t>
            </a:r>
            <a:r>
              <a:rPr lang="it-IT" sz="1500" dirty="0"/>
              <a:t> more images under diverse </a:t>
            </a:r>
            <a:r>
              <a:rPr lang="it-IT" sz="1500" dirty="0" err="1"/>
              <a:t>conditions</a:t>
            </a:r>
            <a:r>
              <a:rPr lang="it-IT" sz="1500" dirty="0"/>
              <a:t> (lighting, </a:t>
            </a:r>
            <a:r>
              <a:rPr lang="it-IT" sz="1500" dirty="0" err="1"/>
              <a:t>weather</a:t>
            </a:r>
            <a:r>
              <a:rPr lang="it-IT" sz="1500" dirty="0"/>
              <a:t>, track layouts).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/>
              <a:t>Include a </a:t>
            </a:r>
            <a:r>
              <a:rPr lang="it-IT" sz="1500" dirty="0" err="1"/>
              <a:t>wider</a:t>
            </a:r>
            <a:r>
              <a:rPr lang="it-IT" sz="1500" dirty="0"/>
              <a:t> </a:t>
            </a:r>
            <a:r>
              <a:rPr lang="it-IT" sz="1500" dirty="0" err="1"/>
              <a:t>variety</a:t>
            </a:r>
            <a:r>
              <a:rPr lang="it-IT" sz="1500" dirty="0"/>
              <a:t> of </a:t>
            </a:r>
            <a:r>
              <a:rPr lang="it-IT" sz="1500" dirty="0" err="1"/>
              <a:t>cones</a:t>
            </a:r>
            <a:r>
              <a:rPr lang="it-IT" sz="1500" dirty="0"/>
              <a:t> and </a:t>
            </a:r>
            <a:r>
              <a:rPr lang="it-IT" sz="1500" dirty="0" err="1"/>
              <a:t>obstacles</a:t>
            </a:r>
            <a:r>
              <a:rPr lang="it-IT" sz="15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500" b="1" dirty="0"/>
              <a:t>Real-World </a:t>
            </a:r>
            <a:r>
              <a:rPr lang="it-IT" sz="1500" b="1" dirty="0" err="1"/>
              <a:t>Validation</a:t>
            </a:r>
            <a:endParaRPr lang="it-IT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/>
              <a:t>Test the model on track </a:t>
            </a:r>
            <a:r>
              <a:rPr lang="it-IT" sz="1500" dirty="0" err="1"/>
              <a:t>during</a:t>
            </a:r>
            <a:r>
              <a:rPr lang="it-IT" sz="1500" dirty="0"/>
              <a:t> Formula </a:t>
            </a:r>
            <a:r>
              <a:rPr lang="it-IT" sz="1500" dirty="0" err="1"/>
              <a:t>Student</a:t>
            </a:r>
            <a:r>
              <a:rPr lang="it-IT" sz="1500" dirty="0"/>
              <a:t> events and </a:t>
            </a:r>
            <a:r>
              <a:rPr lang="it-IT" sz="1500" dirty="0" err="1"/>
              <a:t>real</a:t>
            </a:r>
            <a:r>
              <a:rPr lang="it-IT" sz="1500" dirty="0"/>
              <a:t> </a:t>
            </a:r>
            <a:r>
              <a:rPr lang="it-IT" sz="1500" dirty="0" err="1"/>
              <a:t>driving</a:t>
            </a:r>
            <a:r>
              <a:rPr lang="it-IT" sz="1500" dirty="0"/>
              <a:t> </a:t>
            </a:r>
            <a:r>
              <a:rPr lang="it-IT" sz="1500" dirty="0" err="1"/>
              <a:t>conditions</a:t>
            </a:r>
            <a:r>
              <a:rPr lang="it-IT" sz="15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/>
              <a:t>Compare performance </a:t>
            </a:r>
            <a:r>
              <a:rPr lang="it-IT" sz="1500" dirty="0" err="1"/>
              <a:t>between</a:t>
            </a:r>
            <a:r>
              <a:rPr lang="it-IT" sz="1500" dirty="0"/>
              <a:t> </a:t>
            </a:r>
            <a:r>
              <a:rPr lang="it-IT" sz="1500" dirty="0" err="1"/>
              <a:t>simulation</a:t>
            </a:r>
            <a:r>
              <a:rPr lang="it-IT" sz="1500" dirty="0"/>
              <a:t> and </a:t>
            </a:r>
            <a:r>
              <a:rPr lang="it-IT" sz="1500" dirty="0" err="1"/>
              <a:t>physical</a:t>
            </a:r>
            <a:r>
              <a:rPr lang="it-IT" sz="1500" dirty="0"/>
              <a:t> </a:t>
            </a:r>
            <a:r>
              <a:rPr lang="it-IT" sz="1500" dirty="0" err="1"/>
              <a:t>environments</a:t>
            </a:r>
            <a:r>
              <a:rPr lang="it-IT" sz="15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500" b="1" dirty="0"/>
              <a:t>Sensor Integration</a:t>
            </a:r>
            <a:endParaRPr lang="it-IT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/>
              <a:t>Combine monocamera </a:t>
            </a:r>
            <a:r>
              <a:rPr lang="it-IT" sz="1500" dirty="0" err="1"/>
              <a:t>predictions</a:t>
            </a:r>
            <a:r>
              <a:rPr lang="it-IT" sz="1500" dirty="0"/>
              <a:t> with IMU and GPS data for </a:t>
            </a:r>
            <a:r>
              <a:rPr lang="it-IT" sz="1500" dirty="0" err="1"/>
              <a:t>improved</a:t>
            </a:r>
            <a:r>
              <a:rPr lang="it-IT" sz="1500" dirty="0"/>
              <a:t> </a:t>
            </a:r>
            <a:r>
              <a:rPr lang="it-IT" sz="1500" dirty="0" err="1"/>
              <a:t>robustness</a:t>
            </a:r>
            <a:r>
              <a:rPr lang="it-IT" sz="15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 err="1"/>
              <a:t>Explore</a:t>
            </a:r>
            <a:r>
              <a:rPr lang="it-IT" sz="1500" dirty="0"/>
              <a:t> low-</a:t>
            </a:r>
            <a:r>
              <a:rPr lang="it-IT" sz="1500" dirty="0" err="1"/>
              <a:t>resolution</a:t>
            </a:r>
            <a:r>
              <a:rPr lang="it-IT" sz="1500" dirty="0"/>
              <a:t> </a:t>
            </a:r>
            <a:r>
              <a:rPr lang="it-IT" sz="1500" dirty="0" err="1"/>
              <a:t>LiDAR</a:t>
            </a:r>
            <a:r>
              <a:rPr lang="it-IT" sz="1500" dirty="0"/>
              <a:t> fusion </a:t>
            </a:r>
            <a:r>
              <a:rPr lang="it-IT" sz="1500" dirty="0" err="1"/>
              <a:t>if</a:t>
            </a:r>
            <a:r>
              <a:rPr lang="it-IT" sz="1500" dirty="0"/>
              <a:t> </a:t>
            </a:r>
            <a:r>
              <a:rPr lang="it-IT" sz="1500" dirty="0" err="1"/>
              <a:t>available</a:t>
            </a:r>
            <a:r>
              <a:rPr lang="it-IT" sz="15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500" b="1" dirty="0"/>
              <a:t>Model </a:t>
            </a:r>
            <a:r>
              <a:rPr lang="it-IT" sz="1500" b="1" dirty="0" err="1"/>
              <a:t>Optimization</a:t>
            </a:r>
            <a:endParaRPr lang="it-IT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 err="1"/>
              <a:t>Develop</a:t>
            </a:r>
            <a:r>
              <a:rPr lang="it-IT" sz="1500" dirty="0"/>
              <a:t> </a:t>
            </a:r>
            <a:r>
              <a:rPr lang="it-IT" sz="1500" dirty="0" err="1"/>
              <a:t>lightweight</a:t>
            </a:r>
            <a:r>
              <a:rPr lang="it-IT" sz="1500" dirty="0"/>
              <a:t> </a:t>
            </a:r>
            <a:r>
              <a:rPr lang="it-IT" sz="1500" dirty="0" err="1"/>
              <a:t>architectures</a:t>
            </a:r>
            <a:r>
              <a:rPr lang="it-IT" sz="1500" dirty="0"/>
              <a:t> for real-time </a:t>
            </a:r>
            <a:r>
              <a:rPr lang="it-IT" sz="1500" dirty="0" err="1"/>
              <a:t>onboard</a:t>
            </a:r>
            <a:r>
              <a:rPr lang="it-IT" sz="1500" dirty="0"/>
              <a:t> </a:t>
            </a:r>
            <a:r>
              <a:rPr lang="it-IT" sz="1500" dirty="0" err="1"/>
              <a:t>inference</a:t>
            </a:r>
            <a:r>
              <a:rPr lang="it-IT" sz="15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500" dirty="0" err="1"/>
              <a:t>Improve</a:t>
            </a:r>
            <a:r>
              <a:rPr lang="it-IT" sz="1500" dirty="0"/>
              <a:t> </a:t>
            </a:r>
            <a:r>
              <a:rPr lang="it-IT" sz="1500" dirty="0" err="1"/>
              <a:t>generalization</a:t>
            </a:r>
            <a:r>
              <a:rPr lang="it-IT" sz="1500" dirty="0"/>
              <a:t> and reduce </a:t>
            </a:r>
            <a:r>
              <a:rPr lang="it-IT" sz="1500" dirty="0" err="1"/>
              <a:t>overfitting</a:t>
            </a:r>
            <a:r>
              <a:rPr lang="it-IT" sz="1500" dirty="0"/>
              <a:t>.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705673F-F003-7004-9B25-816A9085AC0B}"/>
              </a:ext>
            </a:extLst>
          </p:cNvPr>
          <p:cNvSpPr/>
          <p:nvPr/>
        </p:nvSpPr>
        <p:spPr>
          <a:xfrm>
            <a:off x="6764328" y="3806155"/>
            <a:ext cx="1339702" cy="393404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 err="1"/>
              <a:t>Current</a:t>
            </a:r>
            <a:r>
              <a:rPr lang="it-IT" sz="1100" dirty="0"/>
              <a:t> Model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0B8063F9-92D4-9537-D8F5-7F1C470CB950}"/>
              </a:ext>
            </a:extLst>
          </p:cNvPr>
          <p:cNvSpPr/>
          <p:nvPr/>
        </p:nvSpPr>
        <p:spPr>
          <a:xfrm>
            <a:off x="8598250" y="3806155"/>
            <a:ext cx="1339702" cy="393404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Dataset Expansion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70B344CE-2F69-960E-1251-CDDF2E6BBA56}"/>
              </a:ext>
            </a:extLst>
          </p:cNvPr>
          <p:cNvSpPr/>
          <p:nvPr/>
        </p:nvSpPr>
        <p:spPr>
          <a:xfrm>
            <a:off x="10678602" y="3814172"/>
            <a:ext cx="1339702" cy="393404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Model </a:t>
            </a:r>
            <a:r>
              <a:rPr lang="it-IT" sz="1100" dirty="0" err="1"/>
              <a:t>Optimization</a:t>
            </a:r>
            <a:endParaRPr lang="it-IT" sz="1100" dirty="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E72529F-AD97-D7E5-04BE-33EEC9A57259}"/>
              </a:ext>
            </a:extLst>
          </p:cNvPr>
          <p:cNvSpPr/>
          <p:nvPr/>
        </p:nvSpPr>
        <p:spPr>
          <a:xfrm>
            <a:off x="8598250" y="4819173"/>
            <a:ext cx="1339702" cy="393404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Sensor Integration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B628D947-5504-184D-0B97-3D432E07EAC3}"/>
              </a:ext>
            </a:extLst>
          </p:cNvPr>
          <p:cNvSpPr/>
          <p:nvPr/>
        </p:nvSpPr>
        <p:spPr>
          <a:xfrm>
            <a:off x="8598250" y="2793137"/>
            <a:ext cx="1339702" cy="393404"/>
          </a:xfrm>
          <a:prstGeom prst="roundRect">
            <a:avLst/>
          </a:prstGeom>
          <a:solidFill>
            <a:srgbClr val="0060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/>
              <a:t>Real-World </a:t>
            </a:r>
            <a:r>
              <a:rPr lang="it-IT" sz="1100" dirty="0" err="1"/>
              <a:t>Validation</a:t>
            </a:r>
            <a:endParaRPr lang="it-IT" sz="1100" dirty="0"/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C3985E4E-9CDF-E975-46BA-A0114EB306D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8109152" y="3993378"/>
            <a:ext cx="489098" cy="9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7C75F5AB-0158-5085-D810-11CE400084B9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109152" y="2989839"/>
            <a:ext cx="489098" cy="1005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835C12D0-5F59-D3A8-D725-EFA903535D0E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8104030" y="4010874"/>
            <a:ext cx="494220" cy="1005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E37E85E5-32D4-850C-1604-70DED6B08651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9937952" y="4002857"/>
            <a:ext cx="740650" cy="8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82FEA899-0494-1216-B510-BCC2F7D1DA00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9937952" y="4010874"/>
            <a:ext cx="740650" cy="1005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C17A6745-4CEB-78D1-4E5B-F24502E34DA2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>
            <a:off x="9937952" y="2989839"/>
            <a:ext cx="740650" cy="1021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Ovale 39">
            <a:extLst>
              <a:ext uri="{FF2B5EF4-FFF2-40B4-BE49-F238E27FC236}">
                <a16:creationId xmlns:a16="http://schemas.microsoft.com/office/drawing/2014/main" id="{F7DE9C16-E820-AA20-349B-1C12AF97E71B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99DC342B-C8A1-4FD7-FE82-7DA9FC909AA8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F26AC7E6-0477-27C4-C6A8-AE7FAE265D7C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D42804E0-290F-CE70-4C9C-5FB33641AE06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Ovale 43">
            <a:extLst>
              <a:ext uri="{FF2B5EF4-FFF2-40B4-BE49-F238E27FC236}">
                <a16:creationId xmlns:a16="http://schemas.microsoft.com/office/drawing/2014/main" id="{FA51F8AB-E398-20E3-B828-EBDB85B27F50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69E6520A-3273-1EA2-66BC-676C913880E7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Ovale 45">
            <a:extLst>
              <a:ext uri="{FF2B5EF4-FFF2-40B4-BE49-F238E27FC236}">
                <a16:creationId xmlns:a16="http://schemas.microsoft.com/office/drawing/2014/main" id="{31C833AB-4121-0A59-417F-D0C9B4BFBCEA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7" name="Connettore 1 46">
            <a:extLst>
              <a:ext uri="{FF2B5EF4-FFF2-40B4-BE49-F238E27FC236}">
                <a16:creationId xmlns:a16="http://schemas.microsoft.com/office/drawing/2014/main" id="{B167D233-22AB-7EB6-468E-746568A29BF3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Ovale 47">
            <a:extLst>
              <a:ext uri="{FF2B5EF4-FFF2-40B4-BE49-F238E27FC236}">
                <a16:creationId xmlns:a16="http://schemas.microsoft.com/office/drawing/2014/main" id="{D39CCEBB-19A4-5336-8756-534C43C50335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Ovale 48">
            <a:extLst>
              <a:ext uri="{FF2B5EF4-FFF2-40B4-BE49-F238E27FC236}">
                <a16:creationId xmlns:a16="http://schemas.microsoft.com/office/drawing/2014/main" id="{3E59AF4E-B499-87BF-F278-82806DE4846C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Ovale 49">
            <a:extLst>
              <a:ext uri="{FF2B5EF4-FFF2-40B4-BE49-F238E27FC236}">
                <a16:creationId xmlns:a16="http://schemas.microsoft.com/office/drawing/2014/main" id="{19D69BA6-A761-9FA8-F3D0-83BAB5F64AEE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AE0AEB90-86EC-C905-3E66-C30D71E5444E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D0BA3517-2635-E682-77C7-0C9A1EE76E00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Ovale 52">
            <a:extLst>
              <a:ext uri="{FF2B5EF4-FFF2-40B4-BE49-F238E27FC236}">
                <a16:creationId xmlns:a16="http://schemas.microsoft.com/office/drawing/2014/main" id="{7D899706-6141-3F1E-AE60-80389EC4F872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Ovale 53">
            <a:extLst>
              <a:ext uri="{FF2B5EF4-FFF2-40B4-BE49-F238E27FC236}">
                <a16:creationId xmlns:a16="http://schemas.microsoft.com/office/drawing/2014/main" id="{FB9035C1-7679-7232-514D-52F0CCE6A3AE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Ovale 54">
            <a:extLst>
              <a:ext uri="{FF2B5EF4-FFF2-40B4-BE49-F238E27FC236}">
                <a16:creationId xmlns:a16="http://schemas.microsoft.com/office/drawing/2014/main" id="{6EDBA9D4-F825-C593-C4B9-DC505B5109AF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Ovale 55">
            <a:extLst>
              <a:ext uri="{FF2B5EF4-FFF2-40B4-BE49-F238E27FC236}">
                <a16:creationId xmlns:a16="http://schemas.microsoft.com/office/drawing/2014/main" id="{58F69C13-DF9C-9846-5A21-4A7FDC7A32C4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Ovale 56">
            <a:extLst>
              <a:ext uri="{FF2B5EF4-FFF2-40B4-BE49-F238E27FC236}">
                <a16:creationId xmlns:a16="http://schemas.microsoft.com/office/drawing/2014/main" id="{167F41A6-9079-3023-DE87-8D0EBBBFF363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8472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E16B-ECF6-30B9-480D-A2BFABBF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EB88082-0267-C67C-99D3-3FEA6CD9F4C7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1A105642-E739-4579-32B0-EB9FDBC68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4BFF35-7159-E857-D1DC-67706F6BCAC2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22D54DD2-7B61-380B-E4AD-F9A3E8209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141" y="1289237"/>
            <a:ext cx="2788550" cy="517695"/>
          </a:xfrm>
        </p:spPr>
        <p:txBody>
          <a:bodyPr>
            <a:normAutofit/>
          </a:bodyPr>
          <a:lstStyle/>
          <a:p>
            <a:r>
              <a:rPr lang="it-IT" sz="2000" b="1" dirty="0"/>
              <a:t>CONCLUSIONS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A7C5983-0C52-8A10-18F0-68E96E12749F}"/>
              </a:ext>
            </a:extLst>
          </p:cNvPr>
          <p:cNvSpPr txBox="1"/>
          <p:nvPr/>
        </p:nvSpPr>
        <p:spPr>
          <a:xfrm>
            <a:off x="602606" y="2259520"/>
            <a:ext cx="575356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it-IT" sz="1600" b="1" dirty="0"/>
              <a:t>Goal </a:t>
            </a:r>
            <a:r>
              <a:rPr lang="it-IT" sz="1600" b="1" dirty="0" err="1"/>
              <a:t>achieved</a:t>
            </a:r>
            <a:r>
              <a:rPr lang="it-IT" sz="1600" b="1" dirty="0"/>
              <a:t>:</a:t>
            </a:r>
            <a:br>
              <a:rPr lang="it-IT" sz="1600" dirty="0"/>
            </a:br>
            <a:r>
              <a:rPr lang="it-IT" sz="1600" dirty="0"/>
              <a:t>A </a:t>
            </a:r>
            <a:r>
              <a:rPr lang="it-IT" sz="1600" dirty="0" err="1"/>
              <a:t>neural</a:t>
            </a:r>
            <a:r>
              <a:rPr lang="it-IT" sz="1600" dirty="0"/>
              <a:t> network </a:t>
            </a:r>
            <a:r>
              <a:rPr lang="it-IT" sz="1600" dirty="0" err="1"/>
              <a:t>was</a:t>
            </a:r>
            <a:r>
              <a:rPr lang="it-IT" sz="1600" dirty="0"/>
              <a:t> </a:t>
            </a:r>
            <a:r>
              <a:rPr lang="it-IT" sz="1600" dirty="0" err="1"/>
              <a:t>successfully</a:t>
            </a:r>
            <a:r>
              <a:rPr lang="it-IT" sz="1600" dirty="0"/>
              <a:t> </a:t>
            </a:r>
            <a:r>
              <a:rPr lang="it-IT" sz="1600" dirty="0" err="1"/>
              <a:t>trained</a:t>
            </a:r>
            <a:r>
              <a:rPr lang="it-IT" sz="1600" dirty="0"/>
              <a:t> to estimate </a:t>
            </a:r>
            <a:r>
              <a:rPr lang="it-IT" sz="1600" dirty="0" err="1"/>
              <a:t>cone</a:t>
            </a:r>
            <a:r>
              <a:rPr lang="it-IT" sz="1600" dirty="0"/>
              <a:t> </a:t>
            </a:r>
            <a:r>
              <a:rPr lang="it-IT" sz="1600" dirty="0" err="1"/>
              <a:t>distances</a:t>
            </a:r>
            <a:r>
              <a:rPr lang="it-IT" sz="1600" dirty="0"/>
              <a:t> </a:t>
            </a:r>
            <a:r>
              <a:rPr lang="it-IT" sz="1600" dirty="0" err="1"/>
              <a:t>using</a:t>
            </a:r>
            <a:r>
              <a:rPr lang="it-IT" sz="1600" dirty="0"/>
              <a:t> a single </a:t>
            </a:r>
            <a:r>
              <a:rPr lang="it-IT" sz="1600" dirty="0" err="1"/>
              <a:t>monocular</a:t>
            </a:r>
            <a:r>
              <a:rPr lang="it-IT" sz="1600" dirty="0"/>
              <a:t> camera.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600" b="1" dirty="0" err="1"/>
              <a:t>Practical</a:t>
            </a:r>
            <a:r>
              <a:rPr lang="it-IT" sz="1600" b="1" dirty="0"/>
              <a:t> impact:</a:t>
            </a:r>
            <a:br>
              <a:rPr lang="it-IT" sz="1600" dirty="0"/>
            </a:br>
            <a:r>
              <a:rPr lang="it-IT" sz="1600" dirty="0" err="1"/>
              <a:t>Reduces</a:t>
            </a:r>
            <a:r>
              <a:rPr lang="it-IT" sz="1600" dirty="0"/>
              <a:t> hardware cost and system </a:t>
            </a:r>
            <a:r>
              <a:rPr lang="it-IT" sz="1600" dirty="0" err="1"/>
              <a:t>complexity</a:t>
            </a:r>
            <a:r>
              <a:rPr lang="it-IT" sz="1600" dirty="0"/>
              <a:t> </a:t>
            </a:r>
            <a:r>
              <a:rPr lang="it-IT" sz="1600" dirty="0" err="1"/>
              <a:t>compared</a:t>
            </a:r>
            <a:r>
              <a:rPr lang="it-IT" sz="1600" dirty="0"/>
              <a:t> to </a:t>
            </a:r>
            <a:r>
              <a:rPr lang="it-IT" sz="1600" dirty="0" err="1"/>
              <a:t>LiDAR</a:t>
            </a:r>
            <a:r>
              <a:rPr lang="it-IT" sz="1600" dirty="0"/>
              <a:t> and stereo-vision.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600" b="1" dirty="0"/>
              <a:t>Key </a:t>
            </a:r>
            <a:r>
              <a:rPr lang="it-IT" sz="1600" b="1" dirty="0" err="1"/>
              <a:t>results</a:t>
            </a:r>
            <a:r>
              <a:rPr lang="it-IT" sz="1600" b="1" dirty="0"/>
              <a:t>:</a:t>
            </a:r>
            <a:endParaRPr lang="it-IT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600" dirty="0"/>
              <a:t>Accurate </a:t>
            </a:r>
            <a:r>
              <a:rPr lang="it-IT" sz="1600" dirty="0" err="1"/>
              <a:t>predictions</a:t>
            </a:r>
            <a:r>
              <a:rPr lang="it-IT" sz="1600" dirty="0"/>
              <a:t> with low </a:t>
            </a:r>
            <a:r>
              <a:rPr lang="it-IT" sz="1600" dirty="0" err="1"/>
              <a:t>error</a:t>
            </a:r>
            <a:r>
              <a:rPr lang="it-IT" sz="1600" dirty="0"/>
              <a:t> rates.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600" dirty="0"/>
              <a:t>Model shows good </a:t>
            </a:r>
            <a:r>
              <a:rPr lang="it-IT" sz="1600" dirty="0" err="1"/>
              <a:t>generalization</a:t>
            </a:r>
            <a:r>
              <a:rPr lang="it-IT" sz="1600" dirty="0"/>
              <a:t> </a:t>
            </a:r>
            <a:r>
              <a:rPr lang="it-IT" sz="1600" dirty="0" err="1"/>
              <a:t>ability</a:t>
            </a:r>
            <a:r>
              <a:rPr lang="it-IT" sz="1600" dirty="0"/>
              <a:t>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it-IT" sz="1600" b="1" dirty="0"/>
              <a:t>Overall </a:t>
            </a:r>
            <a:r>
              <a:rPr lang="it-IT" sz="1600" b="1" dirty="0" err="1"/>
              <a:t>conclusion</a:t>
            </a:r>
            <a:r>
              <a:rPr lang="it-IT" sz="1600" b="1" dirty="0"/>
              <a:t>:</a:t>
            </a:r>
            <a:br>
              <a:rPr lang="it-IT" sz="1600" dirty="0"/>
            </a:br>
            <a:r>
              <a:rPr lang="it-IT" sz="1600" dirty="0" err="1"/>
              <a:t>Monocular</a:t>
            </a:r>
            <a:r>
              <a:rPr lang="it-IT" sz="1600" dirty="0"/>
              <a:t> vision </a:t>
            </a:r>
            <a:r>
              <a:rPr lang="it-IT" sz="1600" dirty="0" err="1"/>
              <a:t>combined</a:t>
            </a:r>
            <a:r>
              <a:rPr lang="it-IT" sz="1600" dirty="0"/>
              <a:t> with </a:t>
            </a:r>
            <a:r>
              <a:rPr lang="it-IT" sz="1600" dirty="0" err="1"/>
              <a:t>neural</a:t>
            </a:r>
            <a:r>
              <a:rPr lang="it-IT" sz="1600" dirty="0"/>
              <a:t> networks </a:t>
            </a:r>
            <a:r>
              <a:rPr lang="it-IT" sz="1600" dirty="0" err="1"/>
              <a:t>is</a:t>
            </a:r>
            <a:r>
              <a:rPr lang="it-IT" sz="1600" dirty="0"/>
              <a:t> a </a:t>
            </a:r>
            <a:r>
              <a:rPr lang="it-IT" sz="1600" dirty="0" err="1"/>
              <a:t>promising</a:t>
            </a:r>
            <a:r>
              <a:rPr lang="it-IT" sz="1600" dirty="0"/>
              <a:t> </a:t>
            </a:r>
            <a:r>
              <a:rPr lang="it-IT" sz="1600" dirty="0" err="1"/>
              <a:t>approach</a:t>
            </a:r>
            <a:r>
              <a:rPr lang="it-IT" sz="1600" dirty="0"/>
              <a:t> for </a:t>
            </a:r>
            <a:r>
              <a:rPr lang="it-IT" sz="1600" dirty="0" err="1"/>
              <a:t>autonomous</a:t>
            </a:r>
            <a:r>
              <a:rPr lang="it-IT" sz="1600" dirty="0"/>
              <a:t> </a:t>
            </a:r>
            <a:r>
              <a:rPr lang="it-IT" sz="1600" dirty="0" err="1"/>
              <a:t>driving</a:t>
            </a:r>
            <a:r>
              <a:rPr lang="it-IT" sz="1600" dirty="0"/>
              <a:t> and Formula </a:t>
            </a:r>
            <a:r>
              <a:rPr lang="it-IT" sz="1600" dirty="0" err="1"/>
              <a:t>Student</a:t>
            </a:r>
            <a:r>
              <a:rPr lang="it-IT" sz="1600" dirty="0"/>
              <a:t> </a:t>
            </a:r>
            <a:r>
              <a:rPr lang="it-IT" sz="1600" dirty="0" err="1"/>
              <a:t>applications</a:t>
            </a:r>
            <a:r>
              <a:rPr lang="it-IT" sz="1600" dirty="0"/>
              <a:t>.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1DE1BD9E-9FF8-F800-A923-FEDDD985FC33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7D86C5E7-0203-0B9D-A8C6-62E0A0ECAEA9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45CAA1A3-0E1F-A6BA-9119-D0B55A8AD5D6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B5D66F53-477C-CC0D-58BC-946D18F85E83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0A4C82FF-DAB1-D223-A0BC-5A2E8E9F2997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E94FE7E3-D37C-307C-AE79-31B7DE1A1ACA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875B6EF4-AF5D-1A72-2A98-A9B82CDFC13E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83BAABC8-F5E1-C00A-12D7-3B3F92811C5C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423FBA12-AA35-50C7-F839-733D98C96CC8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25C7D33E-70C6-12E8-3B12-B7E10A1C24F4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43DEDB6A-D08E-AACF-A84F-20CFA4EE1BA3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4EF980E3-B270-E521-0CB5-CE4E231C0900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D156CF6D-CF62-F8BE-016E-92CFF747D27F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66174D0B-E318-713E-7C0E-9B9C27CF6286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3152AD4C-7383-F41A-84A8-FEFF78F2D160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D2281351-32E1-9894-2682-A9C684ACAE71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D790D62B-8F4E-C926-2D6D-633173F1EFE4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CBCA9A9D-F618-C6F6-AD08-C03C9341D1EE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noFill/>
          <a:ln>
            <a:solidFill>
              <a:srgbClr val="0060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876E5CA1-DFB4-6593-5567-CBD55889E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821" y="3042524"/>
            <a:ext cx="52705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39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F7BF-F58B-FC15-2791-8FD17248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3847523-4E24-30FF-8817-682CCBA24C22}"/>
              </a:ext>
            </a:extLst>
          </p:cNvPr>
          <p:cNvSpPr txBox="1"/>
          <p:nvPr/>
        </p:nvSpPr>
        <p:spPr>
          <a:xfrm>
            <a:off x="9122979" y="236695"/>
            <a:ext cx="30690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0060AB"/>
                </a:solidFill>
                <a:latin typeface=""/>
              </a:rPr>
              <a:t>IT ENGINEERING DEPARTMENT</a:t>
            </a:r>
          </a:p>
        </p:txBody>
      </p:sp>
      <p:pic>
        <p:nvPicPr>
          <p:cNvPr id="7" name="Immagine 6" descr="Immagine che contiene testo, Carattere, logo, Elementi grafici&#10;&#10;Descrizione generata automaticamente">
            <a:extLst>
              <a:ext uri="{FF2B5EF4-FFF2-40B4-BE49-F238E27FC236}">
                <a16:creationId xmlns:a16="http://schemas.microsoft.com/office/drawing/2014/main" id="{87A466C0-5FDE-33FF-2EC3-222A3BB3B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26" y="160878"/>
            <a:ext cx="2528131" cy="90290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4809F3B0-8F67-EE7B-EC56-8176BADEC8D7}"/>
              </a:ext>
            </a:extLst>
          </p:cNvPr>
          <p:cNvSpPr txBox="1"/>
          <p:nvPr/>
        </p:nvSpPr>
        <p:spPr>
          <a:xfrm>
            <a:off x="10353757" y="6377577"/>
            <a:ext cx="1272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>
                <a:latin typeface=""/>
              </a:rPr>
              <a:t>Valerio Garozzo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40C41F0-72FE-4EF9-D959-104AC108D28E}"/>
              </a:ext>
            </a:extLst>
          </p:cNvPr>
          <p:cNvSpPr txBox="1"/>
          <p:nvPr/>
        </p:nvSpPr>
        <p:spPr>
          <a:xfrm>
            <a:off x="1698425" y="2607708"/>
            <a:ext cx="8795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1" dirty="0">
                <a:solidFill>
                  <a:srgbClr val="0060AB"/>
                </a:solidFill>
                <a:latin typeface=""/>
              </a:rPr>
              <a:t>THANK YOU FOR YOUR ATTENTION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3BCAD219-91F8-1BAA-7350-FC3E7B09350B}"/>
              </a:ext>
            </a:extLst>
          </p:cNvPr>
          <p:cNvSpPr/>
          <p:nvPr/>
        </p:nvSpPr>
        <p:spPr>
          <a:xfrm>
            <a:off x="2691082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0685CE04-EB7B-F7D8-E658-26F02F35B2BF}"/>
              </a:ext>
            </a:extLst>
          </p:cNvPr>
          <p:cNvSpPr/>
          <p:nvPr/>
        </p:nvSpPr>
        <p:spPr>
          <a:xfrm>
            <a:off x="3128053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22D82E22-F1D1-3BE3-749F-C3D39E8A00A0}"/>
              </a:ext>
            </a:extLst>
          </p:cNvPr>
          <p:cNvSpPr/>
          <p:nvPr/>
        </p:nvSpPr>
        <p:spPr>
          <a:xfrm>
            <a:off x="3565024" y="6368171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F7D38718-B474-2434-A756-09DDB177B208}"/>
              </a:ext>
            </a:extLst>
          </p:cNvPr>
          <p:cNvSpPr/>
          <p:nvPr/>
        </p:nvSpPr>
        <p:spPr>
          <a:xfrm>
            <a:off x="4001995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8E64F673-E0A9-3A57-BA90-51C3CC2B0E04}"/>
              </a:ext>
            </a:extLst>
          </p:cNvPr>
          <p:cNvSpPr/>
          <p:nvPr/>
        </p:nvSpPr>
        <p:spPr>
          <a:xfrm>
            <a:off x="2254111" y="6368169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5CEFCCAD-9785-EEF6-9D51-D42BDB0F673C}"/>
              </a:ext>
            </a:extLst>
          </p:cNvPr>
          <p:cNvSpPr/>
          <p:nvPr/>
        </p:nvSpPr>
        <p:spPr>
          <a:xfrm>
            <a:off x="4875937" y="6368170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4CBCB6F6-B438-9153-7272-3A4138152647}"/>
              </a:ext>
            </a:extLst>
          </p:cNvPr>
          <p:cNvSpPr/>
          <p:nvPr/>
        </p:nvSpPr>
        <p:spPr>
          <a:xfrm>
            <a:off x="4438966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" name="Connettore 1 17">
            <a:extLst>
              <a:ext uri="{FF2B5EF4-FFF2-40B4-BE49-F238E27FC236}">
                <a16:creationId xmlns:a16="http://schemas.microsoft.com/office/drawing/2014/main" id="{DFA9A5CF-3C01-040E-67C2-45A15728B39C}"/>
              </a:ext>
            </a:extLst>
          </p:cNvPr>
          <p:cNvCxnSpPr>
            <a:cxnSpLocks/>
          </p:cNvCxnSpPr>
          <p:nvPr/>
        </p:nvCxnSpPr>
        <p:spPr>
          <a:xfrm>
            <a:off x="563526" y="6273210"/>
            <a:ext cx="8102009" cy="0"/>
          </a:xfrm>
          <a:prstGeom prst="line">
            <a:avLst/>
          </a:prstGeom>
          <a:ln>
            <a:solidFill>
              <a:srgbClr val="0060A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Ovale 21">
            <a:extLst>
              <a:ext uri="{FF2B5EF4-FFF2-40B4-BE49-F238E27FC236}">
                <a16:creationId xmlns:a16="http://schemas.microsoft.com/office/drawing/2014/main" id="{9BFE8096-3199-BE67-47EC-0D59F37A5D53}"/>
              </a:ext>
            </a:extLst>
          </p:cNvPr>
          <p:cNvSpPr/>
          <p:nvPr/>
        </p:nvSpPr>
        <p:spPr>
          <a:xfrm>
            <a:off x="5749879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400BCC95-5971-4A90-F5FF-84F6EEDB78AD}"/>
              </a:ext>
            </a:extLst>
          </p:cNvPr>
          <p:cNvSpPr/>
          <p:nvPr/>
        </p:nvSpPr>
        <p:spPr>
          <a:xfrm>
            <a:off x="6186850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3DBE89E5-16D2-A427-356E-DE69AC4B3148}"/>
              </a:ext>
            </a:extLst>
          </p:cNvPr>
          <p:cNvSpPr/>
          <p:nvPr/>
        </p:nvSpPr>
        <p:spPr>
          <a:xfrm>
            <a:off x="6623821" y="6368168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EB70049F-6A10-05E3-F693-E6B0405D7174}"/>
              </a:ext>
            </a:extLst>
          </p:cNvPr>
          <p:cNvSpPr/>
          <p:nvPr/>
        </p:nvSpPr>
        <p:spPr>
          <a:xfrm>
            <a:off x="7060792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AA69CA50-D47A-C960-0E2E-0BBE9E5024C7}"/>
              </a:ext>
            </a:extLst>
          </p:cNvPr>
          <p:cNvSpPr/>
          <p:nvPr/>
        </p:nvSpPr>
        <p:spPr>
          <a:xfrm>
            <a:off x="5312908" y="6368166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E4ED6AF-6C9B-7654-C615-F1B59BC5F79D}"/>
              </a:ext>
            </a:extLst>
          </p:cNvPr>
          <p:cNvSpPr/>
          <p:nvPr/>
        </p:nvSpPr>
        <p:spPr>
          <a:xfrm>
            <a:off x="7934734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C696C310-CF4E-8991-73CC-2D51CAE1E718}"/>
              </a:ext>
            </a:extLst>
          </p:cNvPr>
          <p:cNvSpPr/>
          <p:nvPr/>
        </p:nvSpPr>
        <p:spPr>
          <a:xfrm>
            <a:off x="7497763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3B7B3046-5C3C-486C-15E6-F40B399DE0C6}"/>
              </a:ext>
            </a:extLst>
          </p:cNvPr>
          <p:cNvSpPr/>
          <p:nvPr/>
        </p:nvSpPr>
        <p:spPr>
          <a:xfrm>
            <a:off x="943198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4C9C23EA-8745-BF46-FC91-19CB4DAB1F00}"/>
              </a:ext>
            </a:extLst>
          </p:cNvPr>
          <p:cNvSpPr/>
          <p:nvPr/>
        </p:nvSpPr>
        <p:spPr>
          <a:xfrm>
            <a:off x="1817140" y="6368167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B4F2D979-E8E9-C6D7-2E92-53F21C65465B}"/>
              </a:ext>
            </a:extLst>
          </p:cNvPr>
          <p:cNvSpPr/>
          <p:nvPr/>
        </p:nvSpPr>
        <p:spPr>
          <a:xfrm>
            <a:off x="1380169" y="6368165"/>
            <a:ext cx="257175" cy="238125"/>
          </a:xfrm>
          <a:prstGeom prst="ellipse">
            <a:avLst/>
          </a:prstGeom>
          <a:solidFill>
            <a:srgbClr val="00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25023</TotalTime>
  <Words>1100</Words>
  <Application>Microsoft Macintosh PowerPoint</Application>
  <PresentationFormat>Widescreen</PresentationFormat>
  <Paragraphs>193</Paragraphs>
  <Slides>21</Slides>
  <Notes>21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Wingdings</vt:lpstr>
      <vt:lpstr>Office 2013 - Tema 2022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Valerio GAROZZO</dc:creator>
  <cp:lastModifiedBy>Valerio GAROZZO</cp:lastModifiedBy>
  <cp:revision>137</cp:revision>
  <dcterms:created xsi:type="dcterms:W3CDTF">2024-09-26T13:16:37Z</dcterms:created>
  <dcterms:modified xsi:type="dcterms:W3CDTF">2025-09-11T12:01:36Z</dcterms:modified>
</cp:coreProperties>
</file>